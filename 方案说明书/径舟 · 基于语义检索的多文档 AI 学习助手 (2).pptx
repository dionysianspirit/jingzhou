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32512000" cy="1828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7.jpeg"/><Relationship Id="rId7" Type="http://schemas.openxmlformats.org/officeDocument/2006/relationships/image" Target="../media/image26.jpeg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9.jpeg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image" Target="../media/image3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6.jpeg"/><Relationship Id="rId1" Type="http://schemas.openxmlformats.org/officeDocument/2006/relationships/image" Target="../media/image45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1.jpeg"/><Relationship Id="rId4" Type="http://schemas.openxmlformats.org/officeDocument/2006/relationships/image" Target="../media/image50.jpeg"/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image" Target="../media/image4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3.jpeg"/><Relationship Id="rId1" Type="http://schemas.openxmlformats.org/officeDocument/2006/relationships/image" Target="../media/image5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32499321" cy="18288000"/>
          </a:xfrm>
          <a:prstGeom prst="rect">
            <a:avLst/>
          </a:prstGeom>
          <a:solidFill>
            <a:srgbClr val="F4F3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4"/>
          <p:cNvSpPr/>
          <p:nvPr/>
        </p:nvSpPr>
        <p:spPr>
          <a:xfrm>
            <a:off x="10128118" y="9683483"/>
            <a:ext cx="12233909" cy="6470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  <a:spcBef>
                <a:spcPts val="0"/>
              </a:spcBef>
            </a:pPr>
            <a:r>
              <a:rPr sz="6700" kern="0" spc="-300" dirty="0">
                <a:solidFill>
                  <a:srgbClr val="B08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书</a:t>
            </a:r>
            <a:r>
              <a:rPr sz="6700" kern="0" spc="-290" dirty="0">
                <a:solidFill>
                  <a:srgbClr val="B08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山有路勤为径，学海无</a:t>
            </a:r>
            <a:r>
              <a:rPr sz="6700" kern="0" spc="-300" dirty="0">
                <a:solidFill>
                  <a:srgbClr val="B08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涯苦做</a:t>
            </a:r>
            <a:r>
              <a:rPr sz="6700" kern="0" spc="-290" dirty="0">
                <a:solidFill>
                  <a:srgbClr val="B08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舟</a:t>
            </a:r>
            <a:endParaRPr sz="6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90800" algn="l" rtl="0" eaLnBrk="0">
              <a:lnSpc>
                <a:spcPct val="95000"/>
              </a:lnSpc>
              <a:spcBef>
                <a:spcPts val="1115"/>
              </a:spcBef>
            </a:pPr>
            <a:r>
              <a:rPr sz="37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基于语义检索的多文档</a:t>
            </a:r>
            <a:r>
              <a:rPr sz="37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 </a:t>
            </a:r>
            <a:r>
              <a:rPr sz="37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学习助手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92250" algn="l" rtl="0" eaLnBrk="0">
              <a:lnSpc>
                <a:spcPct val="95000"/>
              </a:lnSpc>
              <a:spcBef>
                <a:spcPts val="1110"/>
              </a:spcBef>
            </a:pPr>
            <a:r>
              <a:rPr sz="37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大连财经学院 ·</a:t>
            </a:r>
            <a:r>
              <a:rPr sz="3700" kern="0" spc="-15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7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李年皓</a:t>
            </a:r>
            <a:r>
              <a:rPr lang="en-US" sz="37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7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李昊楠</a:t>
            </a:r>
            <a:r>
              <a:rPr lang="en-US" sz="37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7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倪琢</a:t>
            </a:r>
            <a:r>
              <a:rPr sz="3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隆</a:t>
            </a:r>
            <a:r>
              <a:rPr lang="en-US" sz="3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傅一恒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17900" algn="l" rtl="0" eaLnBrk="0">
              <a:lnSpc>
                <a:spcPct val="96000"/>
              </a:lnSpc>
            </a:pPr>
            <a:r>
              <a:rPr sz="3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指导教师：徐熙</a:t>
            </a:r>
            <a:r>
              <a:rPr lang="zh-CN" sz="3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辰</a:t>
            </a:r>
            <a:r>
              <a:rPr lang="en-US" altLang="zh-CN" sz="3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孙</a:t>
            </a:r>
            <a:r>
              <a:rPr sz="37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智广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2073125" y="4799666"/>
            <a:ext cx="7710805" cy="420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8900" b="1" kern="0" spc="1230" dirty="0">
                <a:solidFill>
                  <a:srgbClr val="3070B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径舟</a:t>
            </a:r>
            <a:endParaRPr sz="28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12579218" y="1619218"/>
            <a:ext cx="7347060" cy="1098560"/>
            <a:chOff x="0" y="0"/>
            <a:chExt cx="7347060" cy="109856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7347060" cy="1098560"/>
            </a:xfrm>
            <a:prstGeom prst="rect">
              <a:avLst/>
            </a:prstGeom>
          </p:spPr>
        </p:pic>
        <p:sp>
          <p:nvSpPr>
            <p:cNvPr id="10" name="textbox 10"/>
            <p:cNvSpPr/>
            <p:nvPr/>
          </p:nvSpPr>
          <p:spPr>
            <a:xfrm>
              <a:off x="-12700" y="-12700"/>
              <a:ext cx="7372984" cy="11969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71500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sz="4400" kern="0" spc="7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数字书斋</a:t>
              </a:r>
              <a:r>
                <a:rPr sz="4400" kern="0" spc="64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4400" kern="0" spc="-18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·</a:t>
              </a:r>
              <a:r>
                <a:rPr sz="4400" kern="0" spc="-1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4400" kern="0" spc="74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伴读系统</a:t>
              </a:r>
              <a:endParaRPr sz="4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 12"/>
          <p:cNvSpPr/>
          <p:nvPr/>
        </p:nvSpPr>
        <p:spPr>
          <a:xfrm>
            <a:off x="0" y="0"/>
            <a:ext cx="32499321" cy="18288000"/>
          </a:xfrm>
          <a:prstGeom prst="rect">
            <a:avLst/>
          </a:prstGeom>
          <a:solidFill>
            <a:srgbClr val="F4F3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676318" y="5384718"/>
            <a:ext cx="29070278" cy="10407701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2305080" y="6240317"/>
            <a:ext cx="5695950" cy="8942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99000"/>
              </a:lnSpc>
            </a:pPr>
            <a:r>
              <a:rPr sz="5700" b="1" kern="0" spc="-4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壹</a:t>
            </a:r>
            <a:r>
              <a:rPr sz="5700" kern="0" spc="-7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700" b="1" kern="0" spc="-4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·痛点与契机</a:t>
            </a:r>
            <a:endParaRPr sz="5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  <a:spcBef>
                <a:spcPts val="995"/>
              </a:spcBef>
            </a:pPr>
            <a:r>
              <a:rPr sz="3300" kern="0" spc="-11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资料分散、检索效率低下</a:t>
            </a:r>
            <a:r>
              <a:rPr sz="3300" kern="0" spc="-12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的困局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99000"/>
              </a:lnSpc>
              <a:spcBef>
                <a:spcPts val="1720"/>
              </a:spcBef>
            </a:pPr>
            <a:r>
              <a:rPr sz="5700" b="1" kern="0" spc="-5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贰</a:t>
            </a:r>
            <a:r>
              <a:rPr sz="5700" kern="0" spc="-7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700" b="1" kern="0" spc="-5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·设计哲学</a:t>
            </a:r>
            <a:endParaRPr sz="5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1000"/>
              </a:spcBef>
            </a:pPr>
            <a:r>
              <a:rPr sz="3300" kern="0" spc="-8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水墨意蕴与</a:t>
            </a:r>
            <a:r>
              <a:rPr sz="3300" kern="0" spc="-80" dirty="0">
                <a:solidFill>
                  <a:srgbClr val="5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</a:t>
            </a:r>
            <a:r>
              <a:rPr sz="3300" kern="0" spc="-8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角色的情感链</a:t>
            </a:r>
            <a:r>
              <a:rPr sz="3300" kern="0" spc="-9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99000"/>
              </a:lnSpc>
              <a:spcBef>
                <a:spcPts val="1715"/>
              </a:spcBef>
            </a:pPr>
            <a:r>
              <a:rPr sz="5700" b="1" kern="0" spc="-5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</a:t>
            </a:r>
            <a:r>
              <a:rPr sz="5700" kern="0" spc="-7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700" b="1" kern="0" spc="-5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·产品功能</a:t>
            </a:r>
            <a:endParaRPr sz="5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0000"/>
              </a:lnSpc>
            </a:pP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3300" kern="0" spc="-8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八大模块构筑的全场</a:t>
            </a:r>
            <a:r>
              <a:rPr sz="3300" kern="0" spc="-9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景学习流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14833578" y="6240317"/>
            <a:ext cx="5542279" cy="8942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99000"/>
              </a:lnSpc>
            </a:pPr>
            <a:r>
              <a:rPr sz="5700" b="1" kern="0" spc="-5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肆</a:t>
            </a:r>
            <a:r>
              <a:rPr sz="5700" kern="0" spc="-7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700" b="1" kern="0" spc="-5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·技术架构</a:t>
            </a:r>
            <a:endParaRPr sz="5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995"/>
              </a:spcBef>
            </a:pPr>
            <a:r>
              <a:rPr sz="3300" kern="0" spc="-7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极简、本地方案与隐私优先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99000"/>
              </a:lnSpc>
              <a:spcBef>
                <a:spcPts val="1715"/>
              </a:spcBef>
            </a:pPr>
            <a:r>
              <a:rPr sz="5700" b="1" kern="0" spc="-5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伍</a:t>
            </a:r>
            <a:r>
              <a:rPr sz="5700" kern="0" spc="-7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700" b="1" kern="0" spc="-5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·竞品差异</a:t>
            </a:r>
            <a:endParaRPr sz="5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990"/>
              </a:spcBef>
            </a:pPr>
            <a:r>
              <a:rPr sz="3300" kern="0" spc="-8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深耕学生市场的“降维打</a:t>
            </a:r>
            <a:r>
              <a:rPr sz="3300" kern="0" spc="-9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击”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ts val="6800"/>
              </a:lnSpc>
              <a:spcBef>
                <a:spcPts val="1660"/>
              </a:spcBef>
            </a:pPr>
            <a:r>
              <a:rPr sz="5500" b="1" kern="0" spc="-4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陆</a:t>
            </a:r>
            <a:r>
              <a:rPr sz="5500" kern="0" spc="-5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0" b="1" kern="0" spc="-4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sz="5500" kern="0" spc="-20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0" b="1" kern="0" spc="-4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团队展望</a:t>
            </a:r>
            <a:endParaRPr sz="5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2000"/>
              </a:lnSpc>
            </a:pPr>
            <a:endParaRPr sz="1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300" kern="0" spc="-10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普惠教育与开源生态的思考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1720820" y="1685774"/>
            <a:ext cx="5334000" cy="1605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10900" b="1" kern="0" spc="-5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研思大纲</a:t>
            </a:r>
            <a:endParaRPr sz="10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992722" y="4400641"/>
            <a:ext cx="13773058" cy="12795198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1828800" y="8356517"/>
            <a:ext cx="13602335" cy="4750434"/>
          </a:xfrm>
          <a:prstGeom prst="rect">
            <a:avLst/>
          </a:prstGeom>
          <a:solidFill>
            <a:srgbClr val="EEEAE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32485" algn="l" rtl="0" eaLnBrk="0">
              <a:lnSpc>
                <a:spcPts val="5050"/>
              </a:lnSpc>
            </a:pPr>
            <a:r>
              <a:rPr sz="4100" b="1" kern="0" spc="-3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学生典型反馈：</a:t>
            </a:r>
            <a:endParaRPr sz="4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94765" algn="l" rtl="0" eaLnBrk="0">
              <a:lnSpc>
                <a:spcPct val="93000"/>
              </a:lnSpc>
              <a:spcBef>
                <a:spcPts val="995"/>
              </a:spcBef>
            </a:pPr>
            <a:r>
              <a:rPr sz="3300" i="1" kern="0" spc="-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“复习拉格朗日中值定理时，要在3个</a:t>
            </a:r>
            <a:r>
              <a:rPr sz="3300" kern="0" spc="-5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100" i="1" kern="0" spc="-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PDF</a:t>
            </a:r>
            <a:r>
              <a:rPr sz="3300" i="1" kern="0" spc="-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里</a:t>
            </a:r>
            <a:r>
              <a:rPr sz="3300" i="1" kern="0" spc="-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找，笔记还记在另外的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44550" algn="l" rtl="0" eaLnBrk="0">
              <a:lnSpc>
                <a:spcPct val="93000"/>
              </a:lnSpc>
              <a:spcBef>
                <a:spcPts val="5"/>
              </a:spcBef>
            </a:pPr>
            <a:r>
              <a:rPr lang="en-US" sz="3300" i="1" kern="0" spc="-190" dirty="0">
                <a:solidFill>
                  <a:srgbClr val="2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3300" i="1" kern="0" spc="-190" dirty="0">
                <a:solidFill>
                  <a:srgbClr val="2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文件</a:t>
            </a:r>
            <a:r>
              <a:rPr sz="3300" i="1" kern="0" spc="-190" dirty="0">
                <a:solidFill>
                  <a:srgbClr val="2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里，找资料的</a:t>
            </a:r>
            <a:r>
              <a:rPr sz="3300" i="1" kern="0" spc="-200" dirty="0">
                <a:solidFill>
                  <a:srgbClr val="2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时间比学习还多。”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1740022" y="5093005"/>
            <a:ext cx="12782550" cy="1787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4800" kern="0" spc="-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课件、</a:t>
            </a:r>
            <a:r>
              <a:rPr sz="4800" kern="0" spc="-180" dirty="0">
                <a:solidFill>
                  <a:srgbClr val="002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论文、</a:t>
            </a:r>
            <a:r>
              <a:rPr sz="4800" kern="0" spc="-180" dirty="0">
                <a:solidFill>
                  <a:srgbClr val="2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教材散落各处，</a:t>
            </a:r>
            <a:endParaRPr sz="4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ct val="92000"/>
              </a:lnSpc>
              <a:spcBef>
                <a:spcPts val="5"/>
              </a:spcBef>
            </a:pPr>
            <a:r>
              <a:rPr sz="4800" b="1" kern="0" spc="-140" dirty="0">
                <a:solidFill>
                  <a:srgbClr val="3070B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跨文档关联全靠“肉眼”翻阅，</a:t>
            </a:r>
            <a:r>
              <a:rPr sz="4800" kern="0" spc="-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效率极其低下。</a:t>
            </a:r>
            <a:endParaRPr sz="4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759817" y="1642197"/>
            <a:ext cx="11900534" cy="160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10900" b="1" kern="0" spc="-580" dirty="0">
                <a:solidFill>
                  <a:srgbClr val="20406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痛点：</a:t>
            </a:r>
            <a:r>
              <a:rPr sz="10900" b="1" kern="0" spc="-5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资料</a:t>
            </a:r>
            <a:r>
              <a:rPr sz="10900" b="1" kern="0" spc="-5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散乱如</a:t>
            </a:r>
            <a:r>
              <a:rPr sz="10900" b="1" kern="0" spc="-4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麻</a:t>
            </a:r>
            <a:endParaRPr sz="10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00962" y="14471659"/>
            <a:ext cx="2412716" cy="1301739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5143377" y="16606589"/>
            <a:ext cx="6953884" cy="512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</a:pPr>
            <a:r>
              <a:rPr sz="33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学生平均花费在资料整理上的无效时间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8992676" y="15369525"/>
            <a:ext cx="1785620" cy="620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4000" b="1" kern="0" spc="-50" dirty="0">
                <a:solidFill>
                  <a:srgbClr val="2080B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小时/周</a:t>
            </a:r>
            <a:endParaRPr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24060" y="4692701"/>
            <a:ext cx="13404698" cy="12890479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17703739" y="5231479"/>
            <a:ext cx="12232005" cy="3749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7300" b="1" kern="0" spc="-20" dirty="0">
                <a:solidFill>
                  <a:srgbClr val="7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7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ct val="94000"/>
              </a:lnSpc>
              <a:spcBef>
                <a:spcPts val="1475"/>
              </a:spcBef>
            </a:pPr>
            <a:r>
              <a:rPr sz="4900" b="1" kern="0" spc="-80" dirty="0">
                <a:solidFill>
                  <a:srgbClr val="50609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传统关键词检索</a:t>
            </a:r>
            <a:endParaRPr sz="4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1000"/>
              </a:spcBef>
            </a:pPr>
            <a:r>
              <a:rPr sz="3300" kern="0" spc="-90" dirty="0">
                <a:solidFill>
                  <a:srgbClr val="5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只能字面匹配，</a:t>
            </a:r>
            <a:r>
              <a:rPr sz="3300" kern="0" spc="-90" dirty="0">
                <a:solidFill>
                  <a:srgbClr val="708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无法捕捉语义关联。如搜</a:t>
            </a:r>
            <a:r>
              <a:rPr sz="3300" kern="0" spc="-100" dirty="0">
                <a:solidFill>
                  <a:srgbClr val="708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索“宏观经济”却找不到包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5395"/>
              </a:lnSpc>
            </a:pPr>
            <a:r>
              <a:rPr sz="3300" kern="0" spc="-230" dirty="0">
                <a:solidFill>
                  <a:srgbClr val="5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含“通货膨胀”的段落。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17703739" y="15173872"/>
            <a:ext cx="12256134" cy="2275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ct val="97000"/>
              </a:lnSpc>
            </a:pPr>
            <a:r>
              <a:rPr sz="4900" b="1" kern="0" spc="-4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径舟</a:t>
            </a:r>
            <a:r>
              <a:rPr sz="4900" kern="0" spc="-5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900" b="1" kern="0" spc="-4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·语义检索</a:t>
            </a:r>
            <a:endParaRPr sz="4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8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1000"/>
              </a:spcBef>
            </a:pPr>
            <a:r>
              <a:rPr sz="3300" kern="0" spc="-30" dirty="0">
                <a:solidFill>
                  <a:srgbClr val="5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深度理解意图，跨文档、跨概念精准定</a:t>
            </a:r>
            <a:r>
              <a:rPr sz="3300" kern="0" spc="-40" dirty="0">
                <a:solidFill>
                  <a:srgbClr val="5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位。搜的是“逻辑”,出的是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algn="l" rtl="0" eaLnBrk="0">
              <a:lnSpc>
                <a:spcPts val="5380"/>
              </a:lnSpc>
            </a:pPr>
            <a:r>
              <a:rPr sz="3200" kern="0" spc="-270" dirty="0">
                <a:solidFill>
                  <a:srgbClr val="5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“答案”。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759817" y="1642197"/>
            <a:ext cx="11962130" cy="160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10900" b="1" kern="0" spc="-510" dirty="0">
                <a:solidFill>
                  <a:srgbClr val="102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痛点：</a:t>
            </a:r>
            <a:r>
              <a:rPr sz="10900" b="1" kern="0" spc="-5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检索粗放无意</a:t>
            </a:r>
            <a:endParaRPr sz="10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722941" y="13442959"/>
            <a:ext cx="996818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2749519" y="7329480"/>
            <a:ext cx="7193915" cy="2951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39340" algn="l" rtl="0" eaLnBrk="0">
              <a:lnSpc>
                <a:spcPct val="95000"/>
              </a:lnSpc>
            </a:pPr>
            <a:r>
              <a:rPr sz="49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依赖笨重</a:t>
            </a:r>
            <a:endParaRPr sz="4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65" algn="l" rtl="0" eaLnBrk="0">
              <a:lnSpc>
                <a:spcPct val="93000"/>
              </a:lnSpc>
              <a:spcBef>
                <a:spcPts val="990"/>
              </a:spcBef>
            </a:pPr>
            <a:r>
              <a:rPr sz="3300" kern="0" spc="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</a:t>
            </a:r>
            <a:r>
              <a:rPr sz="3300" kern="0" spc="-90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300" kern="0" spc="0" dirty="0">
                <a:solidFill>
                  <a:srgbClr val="607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RAG</a:t>
            </a:r>
            <a:r>
              <a:rPr sz="3300" kern="0" spc="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方案动辄需要</a:t>
            </a:r>
            <a:r>
              <a:rPr sz="3300" kern="0" spc="-10" dirty="0">
                <a:solidFill>
                  <a:srgbClr val="607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PostgreSQL,</a:t>
            </a:r>
            <a:endParaRPr sz="3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1325"/>
              </a:spcBef>
            </a:pPr>
            <a:r>
              <a:rPr sz="3300" kern="0" spc="-50" dirty="0">
                <a:solidFill>
                  <a:srgbClr val="607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Redis</a:t>
            </a:r>
            <a:r>
              <a:rPr sz="3300" kern="0" spc="-5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sz="3300" kern="0" spc="-50" dirty="0">
                <a:solidFill>
                  <a:srgbClr val="607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Docker </a:t>
            </a:r>
            <a:r>
              <a:rPr sz="3300" kern="0" spc="-5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部署</a:t>
            </a:r>
            <a:r>
              <a:rPr sz="3300" kern="0" spc="-6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，对个人用户极不友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55950" algn="l" rtl="0" eaLnBrk="0">
              <a:lnSpc>
                <a:spcPts val="3840"/>
              </a:lnSpc>
              <a:spcBef>
                <a:spcPts val="5"/>
              </a:spcBef>
            </a:pPr>
            <a:r>
              <a:rPr sz="3000" kern="0" spc="-20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好。</a:t>
            </a:r>
            <a:endParaRPr sz="3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12547661" y="7294246"/>
            <a:ext cx="7341869" cy="2316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34590" algn="l" rtl="0" eaLnBrk="0">
              <a:lnSpc>
                <a:spcPct val="96000"/>
              </a:lnSpc>
            </a:pPr>
            <a:r>
              <a:rPr sz="5200" b="1" kern="0" spc="-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云端隐患</a:t>
            </a:r>
            <a:endParaRPr sz="5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8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970"/>
              </a:spcBef>
            </a:pPr>
            <a:r>
              <a:rPr sz="3200" kern="0" spc="-9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文档必须上传至服务器，不仅依赖网络，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21665" algn="l" rtl="0" eaLnBrk="0">
              <a:lnSpc>
                <a:spcPct val="97000"/>
              </a:lnSpc>
            </a:pPr>
            <a:r>
              <a:rPr sz="3200" kern="0" spc="-11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更面临严重的学术资料隐私风险。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22466422" y="7329480"/>
            <a:ext cx="7377430" cy="22472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47290" algn="l" rtl="0" eaLnBrk="0">
              <a:lnSpc>
                <a:spcPct val="95000"/>
              </a:lnSpc>
            </a:pPr>
            <a:r>
              <a:rPr sz="49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成本门槛</a:t>
            </a:r>
            <a:endParaRPr sz="4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8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1000"/>
              </a:spcBef>
            </a:pPr>
            <a:r>
              <a:rPr sz="3300" kern="0" spc="-4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商业模型</a:t>
            </a:r>
            <a:r>
              <a:rPr sz="3300" kern="0" spc="-40" dirty="0">
                <a:solidFill>
                  <a:srgbClr val="607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API</a:t>
            </a:r>
            <a:r>
              <a:rPr sz="3300" kern="0" spc="-330" dirty="0">
                <a:solidFill>
                  <a:srgbClr val="607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300" kern="0" spc="-4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计费昂贵，向量数据库维护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34415" algn="l" rtl="0" eaLnBrk="0">
              <a:lnSpc>
                <a:spcPct val="93000"/>
              </a:lnSpc>
            </a:pPr>
            <a:r>
              <a:rPr sz="3300" kern="0" spc="-23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成本高，学生难以长期</a:t>
            </a:r>
            <a:r>
              <a:rPr sz="3300" kern="0" spc="-24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负担。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1765631" y="1666944"/>
            <a:ext cx="11120119" cy="1571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10700" b="1" kern="0" spc="-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痛点：</a:t>
            </a:r>
            <a:r>
              <a:rPr sz="10700" b="1" kern="0" spc="-2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</a:t>
            </a:r>
            <a:r>
              <a:rPr sz="10700" b="1" kern="0" spc="-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门槛过高</a:t>
            </a:r>
            <a:endParaRPr sz="10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7655727" y="15488431"/>
            <a:ext cx="17080230" cy="852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5900" b="1" kern="0" spc="-4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径舟使命：让每一位学子，都能零成本</a:t>
            </a:r>
            <a:r>
              <a:rPr sz="5900" b="1" kern="0" spc="-4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拥有本地方案。</a:t>
            </a:r>
            <a:endParaRPr sz="5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635063" y="5607101"/>
            <a:ext cx="1041361" cy="1015897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41660" y="5613317"/>
            <a:ext cx="1003320" cy="9970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 66"/>
          <p:cNvSpPr/>
          <p:nvPr/>
        </p:nvSpPr>
        <p:spPr>
          <a:xfrm>
            <a:off x="0" y="0"/>
            <a:ext cx="32499321" cy="18288000"/>
          </a:xfrm>
          <a:prstGeom prst="rect">
            <a:avLst/>
          </a:prstGeom>
          <a:solidFill>
            <a:srgbClr val="F4F3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" name="group 4"/>
          <p:cNvGrpSpPr/>
          <p:nvPr/>
        </p:nvGrpSpPr>
        <p:grpSpPr>
          <a:xfrm rot="21600000">
            <a:off x="16935501" y="6515100"/>
            <a:ext cx="13811093" cy="8229600"/>
            <a:chOff x="0" y="0"/>
            <a:chExt cx="13811093" cy="8229600"/>
          </a:xfrm>
        </p:grpSpPr>
        <p:pic>
          <p:nvPicPr>
            <p:cNvPr id="68" name="picture 6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3811093" cy="8229600"/>
            </a:xfrm>
            <a:prstGeom prst="rect">
              <a:avLst/>
            </a:prstGeom>
          </p:spPr>
        </p:pic>
        <p:sp>
          <p:nvSpPr>
            <p:cNvPr id="70" name="textbox 70"/>
            <p:cNvSpPr/>
            <p:nvPr/>
          </p:nvSpPr>
          <p:spPr>
            <a:xfrm>
              <a:off x="-12700" y="-12700"/>
              <a:ext cx="13836650" cy="82918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4515" algn="l" rtl="0" eaLnBrk="0">
                <a:lnSpc>
                  <a:spcPct val="93000"/>
                </a:lnSpc>
                <a:spcBef>
                  <a:spcPts val="5"/>
                </a:spcBef>
              </a:pPr>
              <a:r>
                <a:rPr sz="3300" b="1" kern="0" spc="-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宣纸暖白#</a:t>
              </a:r>
              <a:r>
                <a:rPr sz="3300" b="1" kern="0" spc="-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F7F5F2:</a:t>
              </a:r>
              <a:r>
                <a:rPr sz="3300" b="1" kern="0" spc="2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300" kern="0" spc="-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提供柔和的视读体验，模拟物理纸张质感。</a:t>
              </a:r>
              <a:endParaRPr sz="3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4515" algn="l" rtl="0" eaLnBrk="0">
                <a:lnSpc>
                  <a:spcPct val="97000"/>
                </a:lnSpc>
                <a:spcBef>
                  <a:spcPts val="995"/>
                </a:spcBef>
              </a:pPr>
              <a:r>
                <a:rPr sz="3300" b="1" kern="0" spc="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天青色#5</a:t>
              </a:r>
              <a:r>
                <a:rPr sz="3300" b="1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A9</a:t>
              </a:r>
              <a:r>
                <a:rPr sz="3300" b="1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BC</a:t>
              </a:r>
              <a:r>
                <a:rPr sz="3300" b="1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8: </a:t>
              </a:r>
              <a:r>
                <a:rPr sz="3300" b="1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33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“</a:t>
              </a:r>
              <a:r>
                <a:rPr sz="3300" kern="0" spc="-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300" kern="0" spc="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雨过天晴云破处”,代表</a:t>
              </a:r>
              <a:r>
                <a:rPr sz="33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AI</a:t>
              </a:r>
              <a:r>
                <a:rPr sz="3300" kern="0" spc="3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300" kern="0" spc="-2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检索后的豁然开朗。</a:t>
              </a:r>
              <a:endParaRPr sz="3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4515" algn="l" rtl="0" eaLnBrk="0">
                <a:lnSpc>
                  <a:spcPct val="93000"/>
                </a:lnSpc>
                <a:spcBef>
                  <a:spcPts val="5"/>
                </a:spcBef>
              </a:pPr>
              <a:r>
                <a:rPr sz="3300" b="1" kern="0" spc="-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古铜色#</a:t>
              </a:r>
              <a:r>
                <a:rPr sz="3300" b="1" kern="0" spc="-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C4A882:</a:t>
              </a:r>
              <a:r>
                <a:rPr sz="3300" b="1" kern="0" spc="4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300" kern="0" spc="-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旧书页边缘的质感，象征知识的沉淀与厚重。</a:t>
              </a:r>
              <a:endParaRPr sz="3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1708180" y="11614160"/>
            <a:ext cx="9728240" cy="2120859"/>
            <a:chOff x="0" y="0"/>
            <a:chExt cx="9728240" cy="2120859"/>
          </a:xfrm>
        </p:grpSpPr>
        <p:pic>
          <p:nvPicPr>
            <p:cNvPr id="72" name="picture 7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728240" cy="2120859"/>
            </a:xfrm>
            <a:prstGeom prst="rect">
              <a:avLst/>
            </a:prstGeom>
          </p:spPr>
        </p:pic>
        <p:sp>
          <p:nvSpPr>
            <p:cNvPr id="74" name="textbox 74"/>
            <p:cNvSpPr/>
            <p:nvPr/>
          </p:nvSpPr>
          <p:spPr>
            <a:xfrm>
              <a:off x="-12700" y="-12700"/>
              <a:ext cx="9754234" cy="21863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43865" algn="l" rtl="0" eaLnBrk="0">
                <a:lnSpc>
                  <a:spcPts val="2925"/>
                </a:lnSpc>
                <a:spcBef>
                  <a:spcPts val="5"/>
                </a:spcBef>
              </a:pPr>
              <a:r>
                <a:rPr sz="2400" kern="0" spc="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宣纸暖白</a:t>
              </a:r>
              <a:r>
                <a:rPr sz="2400" kern="0" spc="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</a:t>
              </a:r>
              <a:r>
                <a:rPr sz="2400" kern="0" spc="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天青主调</a:t>
              </a:r>
              <a:r>
                <a:rPr sz="2400" kern="0" spc="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</a:t>
              </a:r>
              <a:r>
                <a:rPr sz="2400" kern="0" spc="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古铜暖色</a:t>
              </a:r>
              <a:r>
                <a:rPr sz="2400" kern="0" spc="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</a:t>
              </a:r>
              <a:r>
                <a:rPr sz="2400" kern="0" spc="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浓墨底色</a:t>
              </a:r>
              <a:endParaRPr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76" name="textbox 76"/>
          <p:cNvSpPr/>
          <p:nvPr/>
        </p:nvSpPr>
        <p:spPr>
          <a:xfrm>
            <a:off x="1740021" y="8337844"/>
            <a:ext cx="12827000" cy="1656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4800" kern="0" spc="-140" dirty="0">
                <a:solidFill>
                  <a:srgbClr val="002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我们不想做一个冷冰</a:t>
            </a:r>
            <a:r>
              <a:rPr sz="4800" kern="0" spc="-150" dirty="0">
                <a:solidFill>
                  <a:srgbClr val="002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冰的生产力工具，</a:t>
            </a:r>
            <a:endParaRPr sz="4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5"/>
              </a:spcBef>
            </a:pPr>
            <a:r>
              <a:rPr sz="4800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而是想在数字世界，为您</a:t>
            </a:r>
            <a:r>
              <a:rPr sz="4800" kern="0" spc="-100" dirty="0">
                <a:solidFill>
                  <a:srgbClr val="C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构筑一间静谧的书斋。</a:t>
            </a:r>
            <a:endParaRPr sz="4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1758745" y="1647713"/>
            <a:ext cx="11737975" cy="1563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10600" b="1" kern="0" spc="-8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</a:t>
            </a:r>
            <a:r>
              <a:rPr sz="10600" b="1" kern="0" spc="-8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哲学</a:t>
            </a:r>
            <a:r>
              <a:rPr sz="10600" kern="0" spc="-13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600" b="1" kern="0" spc="-8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·水墨宣</a:t>
            </a:r>
            <a:r>
              <a:rPr sz="10600" b="1" kern="0" spc="-5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纸</a:t>
            </a:r>
            <a:endParaRPr sz="10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28697" y="4140221"/>
            <a:ext cx="12776241" cy="12598418"/>
          </a:xfrm>
          <a:prstGeom prst="rect">
            <a:avLst/>
          </a:prstGeom>
        </p:spPr>
      </p:pic>
      <p:sp>
        <p:nvSpPr>
          <p:cNvPr id="84" name="textbox 84"/>
          <p:cNvSpPr/>
          <p:nvPr/>
        </p:nvSpPr>
        <p:spPr>
          <a:xfrm>
            <a:off x="16935479" y="6552752"/>
            <a:ext cx="12282805" cy="8893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34415" algn="l" rtl="0" eaLnBrk="0">
              <a:lnSpc>
                <a:spcPct val="98000"/>
              </a:lnSpc>
            </a:pPr>
            <a:r>
              <a:rPr sz="4700" kern="0" spc="-370" dirty="0">
                <a:solidFill>
                  <a:srgbClr val="C0A06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小舟道：</a:t>
            </a:r>
            <a:endParaRPr sz="4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  <a:spcBef>
                <a:spcPts val="1325"/>
              </a:spcBef>
            </a:pPr>
            <a:r>
              <a:rPr sz="4400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“公子且听小舟一言。此‘双联表’之法，犹</a:t>
            </a:r>
            <a:endParaRPr sz="4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034415" algn="l" rtl="0" eaLnBrk="0">
              <a:lnSpc>
                <a:spcPct val="149000"/>
              </a:lnSpc>
              <a:spcBef>
                <a:spcPts val="100"/>
              </a:spcBef>
            </a:pPr>
            <a:r>
              <a:rPr sz="4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如书斋中之连廊，不仅识得前路，亦知来</a:t>
            </a:r>
            <a:r>
              <a:rPr sz="4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处，</a:t>
            </a:r>
            <a:r>
              <a:rPr sz="4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44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故而往来无阻也…</a:t>
            </a:r>
            <a:r>
              <a:rPr sz="4400" kern="0" spc="1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4400" kern="0" spc="18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endParaRPr sz="4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1500" algn="l" rtl="0" eaLnBrk="0">
              <a:lnSpc>
                <a:spcPct val="92000"/>
              </a:lnSpc>
              <a:spcBef>
                <a:spcPts val="1115"/>
              </a:spcBef>
            </a:pPr>
            <a:r>
              <a:rPr sz="3700" b="1" kern="0" spc="-180" dirty="0">
                <a:solidFill>
                  <a:srgbClr val="103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情感化交互：</a:t>
            </a:r>
            <a:r>
              <a:rPr sz="3700" kern="0" spc="-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摆脱工具感，建立</a:t>
            </a:r>
            <a:r>
              <a:rPr sz="3700" kern="0" spc="-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陪伴式学习关系。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4200" algn="l" rtl="0" eaLnBrk="0">
              <a:lnSpc>
                <a:spcPct val="95000"/>
              </a:lnSpc>
            </a:pPr>
            <a:r>
              <a:rPr sz="3700" b="1" kern="0" spc="-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古典文风：</a:t>
            </a:r>
            <a:r>
              <a:rPr sz="3700" kern="0" spc="-180" dirty="0">
                <a:solidFill>
                  <a:srgbClr val="103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潜移默化提升文字美感与学</a:t>
            </a:r>
            <a:r>
              <a:rPr sz="3700" kern="0" spc="-190" dirty="0">
                <a:solidFill>
                  <a:srgbClr val="103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习心境。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954358" y="14814559"/>
            <a:ext cx="533522" cy="539679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948179" y="13646140"/>
            <a:ext cx="552378" cy="533460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1841308" y="1598215"/>
            <a:ext cx="17680305" cy="1508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10300" b="1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书童「小舟」:</a:t>
            </a:r>
            <a:r>
              <a:rPr sz="10300" kern="0" spc="-18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3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</a:t>
            </a:r>
            <a:r>
              <a:rPr sz="10300" b="1" kern="0" spc="13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0300" b="1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与人的温度</a:t>
            </a:r>
            <a:endParaRPr sz="10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755" y="4140835"/>
            <a:ext cx="12901295" cy="12830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graphicFrame>
        <p:nvGraphicFramePr>
          <p:cNvPr id="94" name="table 94"/>
          <p:cNvGraphicFramePr>
            <a:graphicFrameLocks noGrp="1"/>
          </p:cNvGraphicFramePr>
          <p:nvPr/>
        </p:nvGraphicFramePr>
        <p:xfrm>
          <a:off x="16786347" y="4251345"/>
          <a:ext cx="13848715" cy="8039100"/>
        </p:xfrm>
        <a:graphic>
          <a:graphicData uri="http://schemas.openxmlformats.org/drawingml/2006/table">
            <a:tbl>
              <a:tblPr/>
              <a:tblGrid>
                <a:gridCol w="6917690"/>
                <a:gridCol w="6931025"/>
              </a:tblGrid>
              <a:tr h="160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9105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32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现代用语</a:t>
                      </a:r>
                      <a:endParaRPr sz="3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165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3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径舟称谓</a:t>
                      </a:r>
                      <a:endParaRPr sz="3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2125" algn="l" rtl="0" eaLnBrk="0">
                        <a:lnSpc>
                          <a:spcPct val="96000"/>
                        </a:lnSpc>
                      </a:pPr>
                      <a:r>
                        <a:rPr sz="3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思维导图</a:t>
                      </a:r>
                      <a:endParaRPr sz="3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561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32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脉络图</a:t>
                      </a:r>
                      <a:endParaRPr sz="3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6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2125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3200" kern="0" spc="80" dirty="0">
                          <a:solidFill>
                            <a:srgbClr val="203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表格提取</a:t>
                      </a:r>
                      <a:endParaRPr sz="3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7050" algn="l" rtl="0" eaLnBrk="0">
                        <a:lnSpc>
                          <a:spcPct val="96000"/>
                        </a:lnSpc>
                      </a:pPr>
                      <a:r>
                        <a:rPr sz="3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簿</a:t>
                      </a:r>
                      <a:r>
                        <a:rPr sz="3200" b="1" kern="0" spc="-40" dirty="0">
                          <a:solidFill>
                            <a:srgbClr val="10303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册</a:t>
                      </a:r>
                      <a:endParaRPr sz="3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1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2125" algn="l" rtl="0" eaLnBrk="0">
                        <a:lnSpc>
                          <a:spcPct val="96000"/>
                        </a:lnSpc>
                      </a:pPr>
                      <a:r>
                        <a:rPr sz="3200" kern="0" spc="8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统计</a:t>
                      </a:r>
                      <a:r>
                        <a:rPr sz="3200" kern="0" spc="80" dirty="0">
                          <a:solidFill>
                            <a:srgbClr val="203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报表</a:t>
                      </a:r>
                      <a:endParaRPr sz="3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5245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32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览图</a:t>
                      </a:r>
                      <a:endParaRPr sz="3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6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212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3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个人</a:t>
                      </a:r>
                      <a:r>
                        <a:rPr sz="3200" kern="0" spc="100" dirty="0">
                          <a:solidFill>
                            <a:srgbClr val="203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报告</a:t>
                      </a:r>
                      <a:endParaRPr sz="3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975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析</a:t>
                      </a:r>
                      <a:r>
                        <a:rPr sz="3200" b="1" kern="0" spc="-30" dirty="0">
                          <a:solidFill>
                            <a:srgbClr val="10303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报</a:t>
                      </a:r>
                      <a:endParaRPr sz="3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6" name="table 96"/>
          <p:cNvGraphicFramePr>
            <a:graphicFrameLocks noGrp="1"/>
          </p:cNvGraphicFramePr>
          <p:nvPr/>
        </p:nvGraphicFramePr>
        <p:xfrm>
          <a:off x="1806442" y="4257746"/>
          <a:ext cx="13830300" cy="8019414"/>
        </p:xfrm>
        <a:graphic>
          <a:graphicData uri="http://schemas.openxmlformats.org/drawingml/2006/table">
            <a:tbl>
              <a:tblPr/>
              <a:tblGrid>
                <a:gridCol w="6911975"/>
                <a:gridCol w="6918325"/>
              </a:tblGrid>
              <a:tr h="1603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7040" algn="l" rtl="0" eaLnBrk="0">
                        <a:lnSpc>
                          <a:spcPct val="95000"/>
                        </a:lnSpc>
                      </a:pPr>
                      <a:r>
                        <a:rPr sz="33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现代用语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2915" algn="l" rtl="0" eaLnBrk="0">
                        <a:lnSpc>
                          <a:spcPct val="95000"/>
                        </a:lnSpc>
                      </a:pPr>
                      <a:r>
                        <a:rPr sz="33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径舟称谓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68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482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3300" kern="0" spc="40" dirty="0">
                          <a:solidFill>
                            <a:srgbClr val="203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上</a:t>
                      </a:r>
                      <a:r>
                        <a:rPr sz="3300" kern="0" spc="40" dirty="0">
                          <a:solidFill>
                            <a:srgbClr val="00102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传文</a:t>
                      </a:r>
                      <a:r>
                        <a:rPr sz="3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件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965" algn="l" rtl="0" eaLnBrk="0">
                        <a:lnSpc>
                          <a:spcPct val="95000"/>
                        </a:lnSpc>
                      </a:pPr>
                      <a:r>
                        <a:rPr sz="3300" b="1" kern="0" spc="-10" dirty="0">
                          <a:solidFill>
                            <a:srgbClr val="203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投卷入舱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7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4825" algn="l" rtl="0" eaLnBrk="0">
                        <a:lnSpc>
                          <a:spcPct val="95000"/>
                        </a:lnSpc>
                      </a:pPr>
                      <a:r>
                        <a:rPr sz="3300" kern="0" spc="50" dirty="0">
                          <a:solidFill>
                            <a:srgbClr val="203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</a:t>
                      </a:r>
                      <a:r>
                        <a:rPr sz="33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档检索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96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3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择卷而问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4825" algn="l" rtl="0" eaLnBrk="0">
                        <a:lnSpc>
                          <a:spcPct val="95000"/>
                        </a:lnSpc>
                      </a:pPr>
                      <a:r>
                        <a:rPr sz="3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记忆闪卡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371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3300" b="1" kern="0" spc="-90" dirty="0">
                          <a:solidFill>
                            <a:srgbClr val="103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笺</a:t>
                      </a:r>
                      <a:r>
                        <a:rPr sz="3300" b="1" kern="0" spc="-90" dirty="0">
                          <a:solidFill>
                            <a:srgbClr val="203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卡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482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33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智能测验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911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3300" b="1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考</a:t>
                      </a:r>
                      <a:r>
                        <a:rPr sz="3300" b="1" kern="0" spc="-90" dirty="0">
                          <a:solidFill>
                            <a:srgbClr val="10203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8" name="textbox 98"/>
          <p:cNvSpPr/>
          <p:nvPr/>
        </p:nvSpPr>
        <p:spPr>
          <a:xfrm>
            <a:off x="1828800" y="13277818"/>
            <a:ext cx="28854400" cy="2762250"/>
          </a:xfrm>
          <a:prstGeom prst="rect">
            <a:avLst/>
          </a:prstGeom>
          <a:solidFill>
            <a:srgbClr val="F0EB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028815" algn="l" rtl="0" eaLnBrk="0">
              <a:lnSpc>
                <a:spcPct val="94000"/>
              </a:lnSpc>
            </a:pPr>
            <a:r>
              <a:rPr sz="4100" kern="0" spc="-140" dirty="0">
                <a:solidFill>
                  <a:srgbClr val="C09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这不是花哨，是让您</a:t>
            </a:r>
            <a:r>
              <a:rPr sz="4100" kern="0" spc="-150" dirty="0">
                <a:solidFill>
                  <a:srgbClr val="C09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踏入软件的一刻，就像推开了一扇书房的门。</a:t>
            </a:r>
            <a:endParaRPr sz="4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1790355" y="1710252"/>
            <a:ext cx="17182464" cy="1520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103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文案体系：移步换景的仪式感</a:t>
            </a:r>
            <a:endParaRPr sz="10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58899" y="4267137"/>
            <a:ext cx="6775501" cy="11817340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2476418" y="6736721"/>
            <a:ext cx="4934584" cy="8511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5000"/>
              </a:lnSpc>
            </a:pPr>
            <a:r>
              <a:rPr sz="4900" b="1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投卷入舱</a:t>
            </a:r>
            <a:endParaRPr sz="4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7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1000"/>
              </a:spcBef>
            </a:pPr>
            <a:r>
              <a:rPr sz="3300" kern="0" spc="-8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多格式语义索引，构建个人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5415"/>
              </a:lnSpc>
            </a:pPr>
            <a:r>
              <a:rPr sz="3200" kern="0" spc="-24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私有知识库。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6000"/>
              </a:lnSpc>
              <a:spcBef>
                <a:spcPts val="1565"/>
              </a:spcBef>
            </a:pPr>
            <a:r>
              <a:rPr sz="5200" b="1" kern="0" spc="-2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脉络图</a:t>
            </a:r>
            <a:endParaRPr sz="5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995"/>
              </a:spcBef>
            </a:pPr>
            <a:r>
              <a:rPr sz="3300" kern="0" spc="-8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知识结构可视化，一键生成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5345"/>
              </a:lnSpc>
            </a:pPr>
            <a:r>
              <a:rPr sz="3200" kern="0" spc="-27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脉络骨干。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1758728" y="1636010"/>
            <a:ext cx="11727180" cy="160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</a:pPr>
            <a:r>
              <a:rPr sz="10700" b="1" kern="0" spc="-10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功能总览</a:t>
            </a:r>
            <a:r>
              <a:rPr sz="10700" kern="0" spc="-13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700" b="1" kern="0" spc="-1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·径舟八</a:t>
            </a:r>
            <a:r>
              <a:rPr sz="10700" b="1" kern="0" spc="-5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术</a:t>
            </a:r>
            <a:endParaRPr sz="10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17271978" y="6709060"/>
            <a:ext cx="5185409" cy="2277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6000"/>
              </a:lnSpc>
            </a:pPr>
            <a:r>
              <a:rPr sz="5200" b="1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笺卡</a:t>
            </a:r>
            <a:endParaRPr sz="5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  <a:spcBef>
                <a:spcPts val="995"/>
              </a:spcBef>
            </a:pPr>
            <a:r>
              <a:rPr sz="3300" kern="0" spc="-70" dirty="0">
                <a:solidFill>
                  <a:srgbClr val="607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</a:t>
            </a:r>
            <a:r>
              <a:rPr sz="3300" kern="0" spc="-7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自动提取关键考点，3</a:t>
            </a:r>
            <a:r>
              <a:rPr sz="3300" kern="0" spc="-70" dirty="0">
                <a:solidFill>
                  <a:srgbClr val="607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3300" kern="0" spc="-320" dirty="0">
                <a:solidFill>
                  <a:srgbClr val="607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300" kern="0" spc="-7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5445"/>
              </a:lnSpc>
            </a:pPr>
            <a:r>
              <a:rPr sz="3300" kern="0" spc="3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忆卡片。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24663257" y="12982758"/>
            <a:ext cx="4938395" cy="2265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6000"/>
              </a:lnSpc>
            </a:pPr>
            <a:r>
              <a:rPr sz="5200" b="1" kern="0" spc="-2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研思足迹</a:t>
            </a:r>
            <a:endParaRPr sz="5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995"/>
              </a:spcBef>
            </a:pPr>
            <a:r>
              <a:rPr sz="3300" kern="0" spc="-7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复盘思考全过程，定位</a:t>
            </a:r>
            <a:r>
              <a:rPr sz="3300" kern="0" spc="-8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思维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5345"/>
              </a:lnSpc>
            </a:pPr>
            <a:r>
              <a:rPr sz="3100" kern="0" spc="-24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薄弱点。</a:t>
            </a:r>
            <a:endParaRPr sz="3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17271979" y="12975424"/>
            <a:ext cx="4909184" cy="232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5000"/>
              </a:lnSpc>
            </a:pPr>
            <a:r>
              <a:rPr sz="5200" b="1" kern="0" spc="-2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簿册</a:t>
            </a:r>
            <a:endParaRPr sz="5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6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3000"/>
              </a:lnSpc>
              <a:spcBef>
                <a:spcPts val="995"/>
              </a:spcBef>
            </a:pPr>
            <a:r>
              <a:rPr sz="3300" kern="0" spc="-9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跨文档结构化信息提取，自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815"/>
              </a:lnSpc>
            </a:pPr>
            <a:r>
              <a:rPr sz="3100" kern="0" spc="-230" dirty="0">
                <a:solidFill>
                  <a:srgbClr val="507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动汇总。</a:t>
            </a:r>
            <a:endParaRPr sz="3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9899557" y="12996626"/>
            <a:ext cx="4919979" cy="2252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6000"/>
              </a:lnSpc>
            </a:pPr>
            <a:r>
              <a:rPr sz="5200" b="1" kern="0" spc="-2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析报</a:t>
            </a:r>
            <a:endParaRPr sz="5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6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970"/>
              </a:spcBef>
            </a:pPr>
            <a:r>
              <a:rPr sz="3200" kern="0" spc="1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深度学习诊断，发现视野盲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5350"/>
              </a:lnSpc>
            </a:pPr>
            <a:r>
              <a:rPr sz="3100" kern="0" spc="-22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区与误区。</a:t>
            </a:r>
            <a:endParaRPr sz="3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24663257" y="6747033"/>
            <a:ext cx="4930140" cy="2235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5000"/>
              </a:lnSpc>
            </a:pPr>
            <a:r>
              <a:rPr sz="4900" b="1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考核</a:t>
            </a:r>
            <a:endParaRPr sz="4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6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995"/>
              </a:spcBef>
            </a:pPr>
            <a:r>
              <a:rPr sz="3300" kern="0" spc="-8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千人千面的动态测试，实时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5405"/>
              </a:lnSpc>
            </a:pPr>
            <a:r>
              <a:rPr sz="3200" kern="0" spc="-28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掌握进度。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9899558" y="6790315"/>
            <a:ext cx="4897754" cy="2246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6000"/>
              </a:lnSpc>
            </a:pPr>
            <a:r>
              <a:rPr sz="49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择卷而问</a:t>
            </a:r>
            <a:endParaRPr sz="4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3000"/>
              </a:lnSpc>
              <a:spcBef>
                <a:spcPts val="1000"/>
              </a:spcBef>
            </a:pPr>
            <a:r>
              <a:rPr sz="3300" kern="0" spc="-110" dirty="0">
                <a:solidFill>
                  <a:srgbClr val="607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多文档融合问答，精准溯源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3200" kern="0" spc="-270" dirty="0">
                <a:solidFill>
                  <a:srgbClr val="507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原文位置。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880720" y="4991158"/>
            <a:ext cx="1250736" cy="1028701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663275" y="4997378"/>
            <a:ext cx="1117762" cy="1016081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4663275" y="11264859"/>
            <a:ext cx="1028679" cy="1022481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265498" y="5080040"/>
            <a:ext cx="1143120" cy="876178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278500" y="11328319"/>
            <a:ext cx="984138" cy="889162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893401" y="11347521"/>
            <a:ext cx="996818" cy="869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 134"/>
          <p:cNvSpPr/>
          <p:nvPr/>
        </p:nvSpPr>
        <p:spPr>
          <a:xfrm>
            <a:off x="0" y="0"/>
            <a:ext cx="32499321" cy="18288000"/>
          </a:xfrm>
          <a:prstGeom prst="rect">
            <a:avLst/>
          </a:prstGeom>
          <a:solidFill>
            <a:srgbClr val="F4F3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8" name="group 8"/>
          <p:cNvGrpSpPr/>
          <p:nvPr/>
        </p:nvGrpSpPr>
        <p:grpSpPr>
          <a:xfrm rot="21600000">
            <a:off x="1676318" y="6286500"/>
            <a:ext cx="29070278" cy="8648760"/>
            <a:chOff x="0" y="0"/>
            <a:chExt cx="29070278" cy="8648760"/>
          </a:xfrm>
        </p:grpSpPr>
        <p:pic>
          <p:nvPicPr>
            <p:cNvPr id="136" name="picture 13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29070278" cy="8648760"/>
            </a:xfrm>
            <a:prstGeom prst="rect">
              <a:avLst/>
            </a:prstGeom>
          </p:spPr>
        </p:pic>
        <p:sp>
          <p:nvSpPr>
            <p:cNvPr id="138" name="textbox 138"/>
            <p:cNvSpPr/>
            <p:nvPr/>
          </p:nvSpPr>
          <p:spPr>
            <a:xfrm>
              <a:off x="15874937" y="771749"/>
              <a:ext cx="10601325" cy="73507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7000"/>
                </a:lnSpc>
              </a:pPr>
              <a:r>
                <a:rPr sz="3300" kern="0" spc="0" dirty="0">
                  <a:solidFill>
                    <a:srgbClr val="5090B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1.</a:t>
              </a:r>
              <a:r>
                <a:rPr sz="3300" b="1" kern="0" spc="0" dirty="0">
                  <a:solidFill>
                    <a:srgbClr val="5090B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多卷同阅</a:t>
              </a:r>
              <a:endParaRPr sz="3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5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7000"/>
                </a:lnSpc>
                <a:spcBef>
                  <a:spcPts val="995"/>
                </a:spcBef>
              </a:pPr>
              <a:r>
                <a:rPr sz="3300" kern="0" spc="-1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支持同时勾选不同学科、不同格式的文档进行综合检索</a:t>
              </a:r>
              <a:r>
                <a:rPr sz="3300" kern="0" spc="-1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。</a:t>
              </a:r>
              <a:endParaRPr sz="3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7000"/>
                </a:lnSpc>
                <a:spcBef>
                  <a:spcPts val="995"/>
                </a:spcBef>
              </a:pPr>
              <a:r>
                <a:rPr sz="3300" b="1" kern="0" spc="-70" dirty="0">
                  <a:solidFill>
                    <a:srgbClr val="5090B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</a:t>
              </a:r>
              <a:r>
                <a:rPr sz="3300" b="1" kern="0" spc="270" dirty="0">
                  <a:solidFill>
                    <a:srgbClr val="5090B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300" b="1" kern="0" spc="-70" dirty="0">
                  <a:solidFill>
                    <a:srgbClr val="5090B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语义问答</a:t>
              </a:r>
              <a:endParaRPr sz="3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3000"/>
                </a:lnSpc>
                <a:spcBef>
                  <a:spcPts val="1000"/>
                </a:spcBef>
              </a:pPr>
              <a:r>
                <a:rPr sz="3300" kern="0" spc="-1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不仅仅是匹配词，更是通</a:t>
              </a:r>
              <a:r>
                <a:rPr sz="3300" kern="0" spc="-1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过嵌入向量理解问题的逻辑深意。</a:t>
              </a:r>
              <a:endParaRPr sz="3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7000"/>
                </a:lnSpc>
                <a:spcBef>
                  <a:spcPts val="990"/>
                </a:spcBef>
              </a:pPr>
              <a:r>
                <a:rPr sz="3300" b="1" kern="0" spc="-60" dirty="0">
                  <a:solidFill>
                    <a:srgbClr val="5090B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3.</a:t>
              </a:r>
              <a:r>
                <a:rPr sz="3300" b="1" kern="0" spc="190" dirty="0">
                  <a:solidFill>
                    <a:srgbClr val="5090B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300" b="1" kern="0" spc="-60" dirty="0">
                  <a:solidFill>
                    <a:srgbClr val="5090B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精准溯源</a:t>
              </a:r>
              <a:endParaRPr sz="3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6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3000"/>
                </a:lnSpc>
                <a:spcBef>
                  <a:spcPts val="5"/>
                </a:spcBef>
              </a:pPr>
              <a:r>
                <a:rPr sz="3300" kern="0" spc="-1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点击回答中的角标，即刻</a:t>
              </a:r>
              <a:r>
                <a:rPr sz="3300" kern="0" spc="-1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在左侧侧边栏定位文档出处原文。</a:t>
              </a:r>
              <a:endParaRPr sz="3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40" name="textbox 140"/>
          <p:cNvSpPr/>
          <p:nvPr/>
        </p:nvSpPr>
        <p:spPr>
          <a:xfrm>
            <a:off x="1764898" y="1697877"/>
            <a:ext cx="13030200" cy="1534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0"/>
              </a:spcBef>
            </a:pPr>
            <a:r>
              <a:rPr sz="10400" b="1" kern="0" spc="-3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功能演示</a:t>
            </a:r>
            <a:r>
              <a:rPr sz="10400" kern="0" spc="-12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400" b="1" kern="0" spc="-40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sz="10400" kern="0" spc="-36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400" b="1" kern="0" spc="-4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问答</a:t>
            </a:r>
            <a:r>
              <a:rPr sz="10400" b="1" kern="0" spc="-4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与溯</a:t>
            </a:r>
            <a:r>
              <a:rPr sz="10400" b="1" kern="0" spc="-4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</a:t>
            </a:r>
            <a:endParaRPr sz="10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6121339" y="11003314"/>
            <a:ext cx="5028565" cy="424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700" kern="0" spc="110" dirty="0">
                <a:solidFill>
                  <a:srgbClr val="6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实机演示：跨文档语义关联界面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2717657" y="9894711"/>
            <a:ext cx="1674495" cy="512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3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系统界面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sp>
        <p:nvSpPr>
          <p:cNvPr id="148" name="textbox 148"/>
          <p:cNvSpPr/>
          <p:nvPr/>
        </p:nvSpPr>
        <p:spPr>
          <a:xfrm>
            <a:off x="20523178" y="5381308"/>
            <a:ext cx="10140315" cy="12035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" algn="l" rtl="0" eaLnBrk="0">
              <a:lnSpc>
                <a:spcPct val="95000"/>
              </a:lnSpc>
            </a:pPr>
            <a:r>
              <a:rPr sz="6700" b="1" kern="0" spc="-3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不仅判分，更在诊断</a:t>
            </a:r>
            <a:endParaRPr sz="6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1120"/>
              </a:spcBef>
            </a:pPr>
            <a:r>
              <a:rPr sz="3700" kern="0" spc="-80" dirty="0">
                <a:solidFill>
                  <a:srgbClr val="002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通过分析您的错误模式，</a:t>
            </a:r>
            <a:r>
              <a:rPr sz="37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将“错题”归类为四个核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6925"/>
              </a:lnSpc>
            </a:pPr>
            <a:r>
              <a:rPr sz="3600" kern="0" spc="-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心维度：</a:t>
            </a:r>
            <a:endParaRPr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1115"/>
              </a:spcBef>
            </a:pPr>
            <a:r>
              <a:rPr sz="3700" kern="0" spc="-60" dirty="0">
                <a:solidFill>
                  <a:srgbClr val="C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概念混淆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1110"/>
              </a:spcBef>
            </a:pPr>
            <a:r>
              <a:rPr sz="3700" kern="0" spc="-40" dirty="0">
                <a:solidFill>
                  <a:srgbClr val="C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公式遗忘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1110"/>
              </a:spcBef>
            </a:pPr>
            <a:r>
              <a:rPr sz="3700" kern="0" spc="-50" dirty="0">
                <a:solidFill>
                  <a:srgbClr val="C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审题偏移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3700" kern="0" spc="-50" dirty="0">
                <a:solidFill>
                  <a:srgbClr val="C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推导断裂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8277136" y="7422261"/>
            <a:ext cx="4351654" cy="9258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16075" algn="l" rtl="0" eaLnBrk="0">
              <a:lnSpc>
                <a:spcPct val="77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1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7000"/>
              </a:lnSpc>
              <a:spcBef>
                <a:spcPts val="340"/>
              </a:spcBef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DATA04</a:t>
            </a:r>
            <a:endParaRPr sz="11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81000"/>
              </a:lnSpc>
              <a:spcBef>
                <a:spcPts val="425"/>
              </a:spcBef>
            </a:pPr>
            <a:r>
              <a:rPr sz="1800" i="1" kern="0" spc="50" dirty="0">
                <a:solidFill>
                  <a:srgbClr val="20F0D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直</a:t>
            </a:r>
            <a:r>
              <a:rPr sz="1800" i="1" kern="0" spc="50" dirty="0">
                <a:solidFill>
                  <a:srgbClr val="20F0D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2890" algn="l" rtl="0" eaLnBrk="0">
              <a:lnSpc>
                <a:spcPct val="97000"/>
              </a:lnSpc>
              <a:spcBef>
                <a:spcPts val="0"/>
              </a:spcBef>
            </a:pPr>
            <a:r>
              <a:rPr sz="3300" b="1" kern="0" spc="-90" dirty="0">
                <a:solidFill>
                  <a:srgbClr val="C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认知健康度诊断模型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3879961" y="6462926"/>
            <a:ext cx="4374515" cy="7288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10915" algn="l" rtl="0" eaLnBrk="0">
              <a:lnSpc>
                <a:spcPct val="77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O1</a:t>
            </a:r>
            <a:endParaRPr sz="1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95350" algn="l" rtl="0" eaLnBrk="0">
              <a:lnSpc>
                <a:spcPct val="77000"/>
              </a:lnSpc>
              <a:spcBef>
                <a:spcPts val="335"/>
              </a:spcBef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</a:t>
            </a: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O8</a:t>
            </a:r>
            <a:endParaRPr sz="11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975"/>
              </a:lnSpc>
              <a:spcBef>
                <a:spcPts val="42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7715" algn="l" rtl="0" eaLnBrk="0">
              <a:lnSpc>
                <a:spcPts val="1975"/>
              </a:lnSpc>
              <a:spcBef>
                <a:spcPts val="42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72815" algn="l" rtl="0" eaLnBrk="0">
              <a:lnSpc>
                <a:spcPct val="77000"/>
              </a:lnSpc>
              <a:spcBef>
                <a:spcPts val="395"/>
              </a:spcBef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     05</a:t>
            </a:r>
            <a:endParaRPr sz="1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250"/>
              </a:lnSpc>
              <a:spcBef>
                <a:spcPts val="480"/>
              </a:spcBef>
            </a:pPr>
            <a:r>
              <a:rPr sz="1600" kern="0" spc="-10" dirty="0">
                <a:solidFill>
                  <a:srgbClr val="20A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TITTLE 01</a:t>
            </a: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37255" algn="l" rtl="0" eaLnBrk="0">
              <a:lnSpc>
                <a:spcPct val="81000"/>
              </a:lnSpc>
              <a:spcBef>
                <a:spcPts val="0"/>
              </a:spcBef>
            </a:pPr>
            <a:r>
              <a:rPr sz="1800" i="1" kern="0" spc="-20" dirty="0">
                <a:solidFill>
                  <a:srgbClr val="20F0D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直</a:t>
            </a:r>
            <a:r>
              <a:rPr sz="1800" i="1" kern="0" spc="-20" dirty="0">
                <a:solidFill>
                  <a:srgbClr val="20F0D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12820761" y="6481802"/>
            <a:ext cx="4044950" cy="7651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260"/>
              </a:lnSpc>
            </a:pPr>
            <a:r>
              <a:rPr sz="4300" b="1" kern="0" spc="-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RADAR CHAR</a:t>
            </a:r>
            <a:r>
              <a:rPr sz="4300" b="1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endParaRPr sz="4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5775"/>
              </a:lnSpc>
            </a:pPr>
            <a:r>
              <a:rPr sz="4300" b="1" kern="0" spc="-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INFOGRAPHICS</a:t>
            </a:r>
            <a:endParaRPr sz="4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55065" algn="l" rtl="0" eaLnBrk="0">
              <a:lnSpc>
                <a:spcPct val="81000"/>
              </a:lnSpc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</a:t>
            </a:r>
            <a:endParaRPr sz="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1764853" y="1642197"/>
            <a:ext cx="13004165" cy="1598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</a:pPr>
            <a:r>
              <a:rPr sz="10800" b="1" kern="0" spc="-10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</a:t>
            </a:r>
            <a:r>
              <a:rPr sz="10800" b="1" kern="0" spc="-10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心差异</a:t>
            </a:r>
            <a:r>
              <a:rPr sz="10800" kern="0" spc="-14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800" b="1" kern="0" spc="-10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·识海偏误</a:t>
            </a:r>
            <a:r>
              <a:rPr sz="10800" b="1" kern="0" spc="-9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</a:t>
            </a:r>
            <a:endParaRPr sz="10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" y="4271010"/>
            <a:ext cx="17405350" cy="140169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1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960860" y="4051340"/>
            <a:ext cx="13798418" cy="13042819"/>
          </a:xfrm>
          <a:prstGeom prst="rect">
            <a:avLst/>
          </a:prstGeom>
        </p:spPr>
      </p:pic>
      <p:sp>
        <p:nvSpPr>
          <p:cNvPr id="162" name="textbox 162"/>
          <p:cNvSpPr/>
          <p:nvPr/>
        </p:nvSpPr>
        <p:spPr>
          <a:xfrm>
            <a:off x="1714662" y="5943946"/>
            <a:ext cx="13447394" cy="649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</a:pPr>
            <a:r>
              <a:rPr sz="4800" kern="0" spc="-730" dirty="0">
                <a:solidFill>
                  <a:srgbClr val="102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“考试结束后，</a:t>
            </a:r>
            <a:r>
              <a:rPr sz="4800" kern="0" spc="6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您可以像</a:t>
            </a:r>
            <a:r>
              <a:rPr sz="4800" kern="0" spc="-40" dirty="0">
                <a:solidFill>
                  <a:srgbClr val="4090D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看录像一样回看自己的思</a:t>
            </a:r>
            <a:endParaRPr sz="4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9410"/>
              </a:lnSpc>
            </a:pPr>
            <a:r>
              <a:rPr sz="4700" kern="0" spc="-350" dirty="0">
                <a:solidFill>
                  <a:srgbClr val="4090D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维路径</a:t>
            </a:r>
            <a:r>
              <a:rPr sz="4700" kern="0" spc="-3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。”</a:t>
            </a:r>
            <a:endParaRPr sz="4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1965" algn="l" rtl="0" eaLnBrk="0">
              <a:lnSpc>
                <a:spcPct val="96000"/>
              </a:lnSpc>
              <a:spcBef>
                <a:spcPts val="1120"/>
              </a:spcBef>
            </a:pPr>
            <a:r>
              <a:rPr sz="3700" kern="0" spc="-27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3700" kern="0" spc="36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700" b="1" kern="0" spc="-27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心路历程：</a:t>
            </a:r>
            <a:r>
              <a:rPr sz="3700" kern="0" spc="-27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记录每一道题的纠</a:t>
            </a:r>
            <a:r>
              <a:rPr sz="3700" kern="0" spc="-28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结时长。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1965" algn="l" rtl="0" eaLnBrk="0">
              <a:lnSpc>
                <a:spcPct val="95000"/>
              </a:lnSpc>
              <a:spcBef>
                <a:spcPts val="1115"/>
              </a:spcBef>
            </a:pPr>
            <a:r>
              <a:rPr sz="3700" kern="0" spc="-18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3700" kern="0" spc="61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700" b="1" kern="0" spc="-18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改选回溯：</a:t>
            </a:r>
            <a:r>
              <a:rPr sz="3700" kern="0" spc="-18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标记从选项</a:t>
            </a:r>
            <a:r>
              <a:rPr sz="3700" kern="0" spc="-180" dirty="0">
                <a:solidFill>
                  <a:srgbClr val="3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3700" kern="0" spc="-250" dirty="0">
                <a:solidFill>
                  <a:srgbClr val="3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700" kern="0" spc="-18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改到</a:t>
            </a:r>
            <a:r>
              <a:rPr sz="3700" kern="0" spc="-180" dirty="0">
                <a:solidFill>
                  <a:srgbClr val="3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 </a:t>
            </a:r>
            <a:r>
              <a:rPr sz="3700" kern="0" spc="-18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的关键瞬间。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8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1965" algn="l" rtl="0" eaLnBrk="0">
              <a:lnSpc>
                <a:spcPct val="95000"/>
              </a:lnSpc>
              <a:spcBef>
                <a:spcPts val="0"/>
              </a:spcBef>
            </a:pPr>
            <a:r>
              <a:rPr sz="3700" kern="0" spc="-26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3700" kern="0" spc="60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700" b="1" kern="0" spc="-26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犹豫区间：</a:t>
            </a:r>
            <a:r>
              <a:rPr sz="3700" kern="0" spc="-260" dirty="0">
                <a:solidFill>
                  <a:srgbClr val="3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自动识别停留时间过长的知识盲点。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790760" y="13658941"/>
            <a:ext cx="13639800" cy="2438400"/>
          </a:xfrm>
          <a:prstGeom prst="rect">
            <a:avLst/>
          </a:prstGeom>
          <a:solidFill>
            <a:srgbClr val="1C283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8515" algn="l" rtl="0" eaLnBrk="0">
              <a:lnSpc>
                <a:spcPct val="86000"/>
              </a:lnSpc>
              <a:spcBef>
                <a:spcPts val="0"/>
              </a:spcBef>
            </a:pPr>
            <a:r>
              <a:rPr sz="3300" kern="0" spc="-1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“研思足迹帮助我发现，虽然我做对了这道题，但我在计算部分停留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589915" algn="l" rtl="0" eaLnBrk="0">
              <a:lnSpc>
                <a:spcPts val="5000"/>
              </a:lnSpc>
            </a:pPr>
            <a:r>
              <a:rPr sz="3300" kern="0" spc="-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了4分钟，这说明我的基础</a:t>
            </a:r>
            <a:r>
              <a:rPr sz="3300" kern="0" spc="-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运算依然需要加强。”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758703" y="1697877"/>
            <a:ext cx="11717019" cy="1534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0"/>
              </a:spcBef>
            </a:pPr>
            <a:r>
              <a:rPr sz="10400" b="1" kern="0" spc="-700" dirty="0">
                <a:solidFill>
                  <a:srgbClr val="304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</a:t>
            </a:r>
            <a:r>
              <a:rPr sz="10400" b="1" kern="0" spc="-690" dirty="0">
                <a:solidFill>
                  <a:srgbClr val="304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心差异</a:t>
            </a:r>
            <a:r>
              <a:rPr sz="10400" kern="0" spc="-1230" dirty="0">
                <a:solidFill>
                  <a:srgbClr val="304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400" b="1" kern="0" spc="-690" dirty="0">
                <a:solidFill>
                  <a:srgbClr val="304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·研思足</a:t>
            </a:r>
            <a:r>
              <a:rPr sz="10400" b="1" kern="0" spc="-410" dirty="0">
                <a:solidFill>
                  <a:srgbClr val="304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迹</a:t>
            </a:r>
            <a:endParaRPr sz="10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21600000">
            <a:off x="23825119" y="5568878"/>
            <a:ext cx="6858080" cy="6140561"/>
            <a:chOff x="0" y="0"/>
            <a:chExt cx="6858080" cy="6140561"/>
          </a:xfrm>
        </p:grpSpPr>
        <p:pic>
          <p:nvPicPr>
            <p:cNvPr id="170" name="picture 17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858080" cy="6140561"/>
            </a:xfrm>
            <a:prstGeom prst="rect">
              <a:avLst/>
            </a:prstGeom>
          </p:spPr>
        </p:pic>
        <p:sp>
          <p:nvSpPr>
            <p:cNvPr id="172" name="textbox 172"/>
            <p:cNvSpPr/>
            <p:nvPr/>
          </p:nvSpPr>
          <p:spPr>
            <a:xfrm>
              <a:off x="-12700" y="-12700"/>
              <a:ext cx="6884034" cy="62109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837815" algn="l" rtl="0" eaLnBrk="0">
                <a:lnSpc>
                  <a:spcPct val="97000"/>
                </a:lnSpc>
              </a:pPr>
              <a:r>
                <a:rPr sz="3300" b="1" kern="0" spc="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检索层</a:t>
              </a:r>
              <a:endParaRPr sz="3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01850" algn="l" rtl="0" eaLnBrk="0">
                <a:lnSpc>
                  <a:spcPct val="93000"/>
                </a:lnSpc>
                <a:spcBef>
                  <a:spcPts val="840"/>
                </a:spcBef>
              </a:pPr>
              <a:r>
                <a:rPr sz="2800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NumPy</a:t>
              </a:r>
              <a:r>
                <a:rPr sz="2800" kern="0" spc="5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800" kern="0" spc="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向量检索</a:t>
              </a:r>
              <a:endParaRPr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873250" algn="l" rtl="0" eaLnBrk="0">
                <a:lnSpc>
                  <a:spcPct val="97000"/>
                </a:lnSpc>
                <a:spcBef>
                  <a:spcPts val="1760"/>
                </a:spcBef>
              </a:pPr>
              <a:r>
                <a:rPr sz="2700" kern="0" spc="11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内存驻留相似度计算</a:t>
              </a:r>
              <a:endParaRPr sz="27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0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54250" algn="l" rtl="0" eaLnBrk="0">
                <a:lnSpc>
                  <a:spcPct val="97000"/>
                </a:lnSpc>
                <a:spcBef>
                  <a:spcPts val="0"/>
                </a:spcBef>
              </a:pPr>
              <a:r>
                <a:rPr sz="2700" kern="0" spc="1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零外部</a:t>
              </a:r>
              <a:r>
                <a:rPr sz="2700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DB</a:t>
              </a:r>
              <a:r>
                <a:rPr sz="2700" kern="0" spc="17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700" kern="0" spc="1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依赖</a:t>
              </a:r>
              <a:endParaRPr sz="27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74" name="textbox 174"/>
          <p:cNvSpPr/>
          <p:nvPr/>
        </p:nvSpPr>
        <p:spPr>
          <a:xfrm>
            <a:off x="1714261" y="1669876"/>
            <a:ext cx="11779250" cy="1599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</a:pPr>
            <a:r>
              <a:rPr sz="10800" b="1" kern="0" spc="-10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极简架构</a:t>
            </a:r>
            <a:r>
              <a:rPr sz="10800" kern="0" spc="-13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800" b="1" kern="0" spc="-10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·稳</a:t>
            </a:r>
            <a:r>
              <a:rPr sz="10800" b="1" kern="0" spc="-10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定之</a:t>
            </a:r>
            <a:r>
              <a:rPr sz="10800" b="1" kern="0" spc="-4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</a:t>
            </a:r>
            <a:endParaRPr sz="10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8835964" y="13899359"/>
            <a:ext cx="15079344" cy="780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6075" algn="l" rtl="0" eaLnBrk="0">
              <a:lnSpc>
                <a:spcPct val="95000"/>
              </a:lnSpc>
            </a:pPr>
            <a:r>
              <a:rPr sz="5200" kern="0" spc="-430" dirty="0">
                <a:solidFill>
                  <a:srgbClr val="E0B08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“不到1000行核心代码，承载一间完整的智慧书斋。”</a:t>
            </a:r>
            <a:endParaRPr sz="5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8" name="rect 178"/>
          <p:cNvSpPr/>
          <p:nvPr/>
        </p:nvSpPr>
        <p:spPr>
          <a:xfrm>
            <a:off x="19284818" y="8051840"/>
            <a:ext cx="1295603" cy="457200"/>
          </a:xfrm>
          <a:prstGeom prst="rect">
            <a:avLst/>
          </a:prstGeom>
          <a:solidFill>
            <a:srgbClr val="E5E5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0" name="textbox 180"/>
          <p:cNvSpPr/>
          <p:nvPr/>
        </p:nvSpPr>
        <p:spPr>
          <a:xfrm>
            <a:off x="18154681" y="8188447"/>
            <a:ext cx="3427729" cy="2512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85850" algn="l" rtl="0" eaLnBrk="0">
              <a:lnSpc>
                <a:spcPct val="97000"/>
              </a:lnSpc>
            </a:pPr>
            <a:r>
              <a:rPr sz="33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</a:t>
            </a:r>
            <a:r>
              <a:rPr sz="3300" b="1" kern="0" spc="3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引擎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  <a:spcBef>
                <a:spcPts val="880"/>
              </a:spcBef>
            </a:pPr>
            <a:r>
              <a:rPr sz="2900" kern="0" spc="-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BGE</a:t>
            </a:r>
            <a:r>
              <a:rPr sz="2900" kern="0" spc="-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本地</a:t>
            </a:r>
            <a:r>
              <a:rPr sz="2900" kern="0" spc="-8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900" kern="0" spc="-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Embedding</a:t>
            </a:r>
            <a:endParaRPr sz="2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0" algn="l" rtl="0" eaLnBrk="0">
              <a:lnSpc>
                <a:spcPct val="82000"/>
              </a:lnSpc>
              <a:spcBef>
                <a:spcPts val="1280"/>
              </a:spcBef>
            </a:pPr>
            <a:r>
              <a:rPr sz="29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DeepSeek-ChatAPI</a:t>
            </a:r>
            <a:endParaRPr sz="2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01650" algn="l" rtl="0" eaLnBrk="0">
              <a:lnSpc>
                <a:spcPct val="97000"/>
              </a:lnSpc>
              <a:spcBef>
                <a:spcPts val="5"/>
              </a:spcBef>
            </a:pPr>
            <a:r>
              <a:rPr sz="2700" kern="0" spc="1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混合式检索算法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2" name="rect 182"/>
          <p:cNvSpPr/>
          <p:nvPr/>
        </p:nvSpPr>
        <p:spPr>
          <a:xfrm>
            <a:off x="11969618" y="8077261"/>
            <a:ext cx="1219200" cy="431779"/>
          </a:xfrm>
          <a:prstGeom prst="rect">
            <a:avLst/>
          </a:prstGeom>
          <a:solidFill>
            <a:srgbClr val="E6E6E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4" name="textbox 184"/>
          <p:cNvSpPr/>
          <p:nvPr/>
        </p:nvSpPr>
        <p:spPr>
          <a:xfrm>
            <a:off x="11087222" y="8174282"/>
            <a:ext cx="2887345" cy="2533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24865" algn="l" rtl="0" eaLnBrk="0">
              <a:lnSpc>
                <a:spcPct val="97000"/>
              </a:lnSpc>
            </a:pPr>
            <a:r>
              <a:rPr sz="3400" b="1" kern="0" spc="-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后端层</a:t>
            </a:r>
            <a:endParaRPr sz="3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8615" algn="l" rtl="0" eaLnBrk="0">
              <a:lnSpc>
                <a:spcPct val="83000"/>
              </a:lnSpc>
              <a:spcBef>
                <a:spcPts val="815"/>
              </a:spcBef>
            </a:pP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FastAPI</a:t>
            </a:r>
            <a:r>
              <a:rPr sz="2700" kern="0" spc="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</a:t>
            </a: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SSE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1675"/>
              </a:spcBef>
            </a:pP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双向异步流式传输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2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0" algn="l" rtl="0" eaLnBrk="0">
              <a:lnSpc>
                <a:spcPct val="97000"/>
              </a:lnSpc>
              <a:spcBef>
                <a:spcPts val="5"/>
              </a:spcBef>
            </a:pPr>
            <a:r>
              <a:rPr sz="2700" kern="0" spc="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轻量化计算路由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6" name="rect 186"/>
          <p:cNvSpPr/>
          <p:nvPr/>
        </p:nvSpPr>
        <p:spPr>
          <a:xfrm>
            <a:off x="4591018" y="8051840"/>
            <a:ext cx="1219200" cy="444398"/>
          </a:xfrm>
          <a:prstGeom prst="rect">
            <a:avLst/>
          </a:prstGeom>
          <a:solidFill>
            <a:srgbClr val="E6E6E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8" name="textbox 188"/>
          <p:cNvSpPr/>
          <p:nvPr/>
        </p:nvSpPr>
        <p:spPr>
          <a:xfrm>
            <a:off x="3752839" y="8186746"/>
            <a:ext cx="2849245" cy="2520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2165" algn="l" rtl="0" eaLnBrk="0">
              <a:lnSpc>
                <a:spcPct val="97000"/>
              </a:lnSpc>
            </a:pPr>
            <a:r>
              <a:rPr sz="3300" b="1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前端层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66000"/>
              </a:lnSpc>
              <a:spcBef>
                <a:spcPts val="940"/>
              </a:spcBef>
            </a:pPr>
            <a:r>
              <a:rPr sz="3100" kern="0" spc="-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Vanilla JS+CSS3</a:t>
            </a:r>
            <a:endParaRPr sz="3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0" algn="l" rtl="0" eaLnBrk="0">
              <a:lnSpc>
                <a:spcPct val="149000"/>
              </a:lnSpc>
              <a:spcBef>
                <a:spcPts val="0"/>
              </a:spcBef>
            </a:pP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无打包、无框架</a:t>
            </a:r>
            <a:r>
              <a:rPr sz="2700" kern="0" spc="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单文件极致加载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90" name="picture 1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792241" y="3054278"/>
            <a:ext cx="2628920" cy="2546421"/>
          </a:xfrm>
          <a:prstGeom prst="rect">
            <a:avLst/>
          </a:prstGeom>
        </p:spPr>
      </p:pic>
      <p:pic>
        <p:nvPicPr>
          <p:cNvPr id="192" name="picture 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822263" y="14890821"/>
            <a:ext cx="4864123" cy="882578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880859" y="6400799"/>
            <a:ext cx="1384362" cy="1104961"/>
          </a:xfrm>
          <a:prstGeom prst="rect">
            <a:avLst/>
          </a:prstGeom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533798" y="6388181"/>
            <a:ext cx="1352499" cy="1104778"/>
          </a:xfrm>
          <a:prstGeom prst="rect">
            <a:avLst/>
          </a:prstGeom>
        </p:spPr>
      </p:pic>
      <p:pic>
        <p:nvPicPr>
          <p:cNvPr id="198" name="picture 1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9348541" y="6356360"/>
            <a:ext cx="1130117" cy="11556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picture 2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sp>
        <p:nvSpPr>
          <p:cNvPr id="202" name="textbox 202"/>
          <p:cNvSpPr/>
          <p:nvPr/>
        </p:nvSpPr>
        <p:spPr>
          <a:xfrm>
            <a:off x="17043441" y="10699760"/>
            <a:ext cx="13639800" cy="3632200"/>
          </a:xfrm>
          <a:prstGeom prst="rect">
            <a:avLst/>
          </a:prstGeom>
          <a:solidFill>
            <a:srgbClr val="EFFCF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04265" algn="l" rtl="0" eaLnBrk="0">
              <a:lnSpc>
                <a:spcPct val="97000"/>
              </a:lnSpc>
            </a:pPr>
            <a:r>
              <a:rPr sz="3300" b="1" kern="0" spc="-70" dirty="0">
                <a:solidFill>
                  <a:srgbClr val="109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径舟本地方案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9915" algn="l" rtl="0" eaLnBrk="0">
              <a:lnSpc>
                <a:spcPct val="85000"/>
              </a:lnSpc>
              <a:spcBef>
                <a:spcPts val="870"/>
              </a:spcBef>
            </a:pPr>
            <a:r>
              <a:rPr sz="2900" kern="0" spc="100" dirty="0">
                <a:solidFill>
                  <a:srgbClr val="205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向量索引本地生成、离线可用、学术思想与错题隐私得到物理级的隔离</a:t>
            </a:r>
            <a:r>
              <a:rPr sz="2900" kern="0" spc="90" dirty="0">
                <a:solidFill>
                  <a:srgbClr val="205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保</a:t>
            </a:r>
            <a:endParaRPr sz="2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589915" algn="l" rtl="0" eaLnBrk="0">
              <a:lnSpc>
                <a:spcPts val="4435"/>
              </a:lnSpc>
            </a:pPr>
            <a:r>
              <a:rPr sz="2900" kern="0" spc="-70" dirty="0">
                <a:solidFill>
                  <a:srgbClr val="205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护</a:t>
            </a:r>
            <a:r>
              <a:rPr sz="2900" kern="0" spc="-450" dirty="0">
                <a:solidFill>
                  <a:srgbClr val="205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900" kern="0" spc="-70" dirty="0">
                <a:solidFill>
                  <a:srgbClr val="205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17011578" y="6819961"/>
            <a:ext cx="13659485" cy="3092450"/>
          </a:xfrm>
          <a:prstGeom prst="rect">
            <a:avLst/>
          </a:prstGeom>
          <a:solidFill>
            <a:srgbClr val="FCF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28015" algn="l" rtl="0" eaLnBrk="0">
              <a:lnSpc>
                <a:spcPct val="97000"/>
              </a:lnSpc>
            </a:pPr>
            <a:r>
              <a:rPr sz="3300" b="1" kern="0" spc="30" dirty="0">
                <a:solidFill>
                  <a:srgbClr val="C02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×传统云端方案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9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21665" algn="l" rtl="0" eaLnBrk="0">
              <a:lnSpc>
                <a:spcPct val="91000"/>
              </a:lnSpc>
              <a:spcBef>
                <a:spcPts val="5"/>
              </a:spcBef>
            </a:pPr>
            <a:r>
              <a:rPr sz="2900" kern="0" spc="30" dirty="0">
                <a:solidFill>
                  <a:srgbClr val="902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上传腾讯/</a:t>
            </a:r>
            <a:r>
              <a:rPr sz="2900" kern="0" spc="0" dirty="0">
                <a:solidFill>
                  <a:srgbClr val="90202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Google</a:t>
            </a:r>
            <a:r>
              <a:rPr sz="2900" kern="0" spc="30" dirty="0">
                <a:solidFill>
                  <a:srgbClr val="902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服务器、面临数据出境风险、网络波动导致不可用。</a:t>
            </a:r>
            <a:endParaRPr sz="2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06" name="picture 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86520" y="5924581"/>
            <a:ext cx="4629058" cy="7143658"/>
          </a:xfrm>
          <a:prstGeom prst="rect">
            <a:avLst/>
          </a:prstGeom>
        </p:spPr>
      </p:pic>
      <p:sp>
        <p:nvSpPr>
          <p:cNvPr id="208" name="textbox 208"/>
          <p:cNvSpPr/>
          <p:nvPr/>
        </p:nvSpPr>
        <p:spPr>
          <a:xfrm>
            <a:off x="1790627" y="1631836"/>
            <a:ext cx="13224510" cy="1601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10900" b="1" kern="0" spc="-5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隐私：学生的基本权利</a:t>
            </a:r>
            <a:endParaRPr sz="10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5284317" y="15043289"/>
            <a:ext cx="6649719" cy="592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4000" b="1" kern="0" spc="-10" dirty="0">
                <a:solidFill>
                  <a:srgbClr val="C09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文档不出本机，数据只属于您</a:t>
            </a:r>
            <a:endParaRPr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picture 2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0"/>
            <a:ext cx="32499321" cy="18288000"/>
          </a:xfrm>
          <a:prstGeom prst="rect">
            <a:avLst/>
          </a:prstGeom>
        </p:spPr>
      </p:pic>
      <p:graphicFrame>
        <p:nvGraphicFramePr>
          <p:cNvPr id="214" name="table 214"/>
          <p:cNvGraphicFramePr>
            <a:graphicFrameLocks noGrp="1"/>
          </p:cNvGraphicFramePr>
          <p:nvPr/>
        </p:nvGraphicFramePr>
        <p:xfrm>
          <a:off x="1800265" y="4187885"/>
          <a:ext cx="28923615" cy="9568815"/>
        </p:xfrm>
        <a:graphic>
          <a:graphicData uri="http://schemas.openxmlformats.org/drawingml/2006/table">
            <a:tbl>
              <a:tblPr/>
              <a:tblGrid>
                <a:gridCol w="2695575"/>
                <a:gridCol w="5143500"/>
                <a:gridCol w="3086100"/>
                <a:gridCol w="3663315"/>
                <a:gridCol w="14335125"/>
              </a:tblGrid>
              <a:tr h="16154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3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419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3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核心定位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965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3300" b="1" kern="0" spc="40" dirty="0">
                          <a:solidFill>
                            <a:srgbClr val="102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数字书斋/</a:t>
                      </a:r>
                      <a:r>
                        <a:rPr sz="3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学生市场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965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3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职场/资讯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965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3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通用研究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035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784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3300" b="1" kern="0" spc="6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部署隐私</a:t>
                      </a:r>
                      <a:r>
                        <a:rPr sz="3300" kern="0" spc="29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sz="3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本地双击即跑/零上传</a:t>
                      </a:r>
                      <a:r>
                        <a:rPr sz="33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sz="3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云端客户</a:t>
                      </a:r>
                      <a:r>
                        <a:rPr sz="3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端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5615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3300" kern="0" spc="110" dirty="0">
                          <a:solidFill>
                            <a:srgbClr val="203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云端网页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1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4190" algn="l" rtl="0" eaLnBrk="0">
                        <a:lnSpc>
                          <a:spcPct val="96000"/>
                        </a:lnSpc>
                      </a:pPr>
                      <a:r>
                        <a:rPr sz="3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认知诊断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7365" algn="l" rtl="0" eaLnBrk="0">
                        <a:lnSpc>
                          <a:spcPct val="96000"/>
                        </a:lnSpc>
                      </a:pPr>
                      <a:r>
                        <a:rPr sz="3300" b="1" kern="0" spc="40" dirty="0">
                          <a:solidFill>
                            <a:srgbClr val="00102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识海偏误图/足迹回溯</a:t>
                      </a:r>
                      <a:r>
                        <a:rPr sz="3300" kern="0" spc="0" dirty="0">
                          <a:solidFill>
                            <a:srgbClr val="00102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sz="3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965" algn="l" rtl="0" eaLnBrk="0">
                        <a:lnSpc>
                          <a:spcPct val="96000"/>
                        </a:lnSpc>
                      </a:pPr>
                      <a:r>
                        <a:rPr sz="33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8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419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3300" b="1" kern="0" spc="40" dirty="0">
                          <a:solidFill>
                            <a:srgbClr val="10203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代码</a:t>
                      </a:r>
                      <a:r>
                        <a:rPr sz="3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4190" algn="l" rtl="0" eaLnBrk="0">
                        <a:lnSpc>
                          <a:spcPct val="96000"/>
                        </a:lnSpc>
                      </a:pPr>
                      <a:r>
                        <a:rPr sz="3300" b="1" kern="0" spc="40" dirty="0">
                          <a:solidFill>
                            <a:srgbClr val="10303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情感链接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7365" algn="l" rtl="0" eaLnBrk="0">
                        <a:lnSpc>
                          <a:spcPts val="4065"/>
                        </a:lnSpc>
                        <a:spcBef>
                          <a:spcPts val="5"/>
                        </a:spcBef>
                      </a:pPr>
                      <a:r>
                        <a:rPr sz="3300" b="1" kern="0" spc="60" dirty="0">
                          <a:solidFill>
                            <a:srgbClr val="203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开源/</a:t>
                      </a:r>
                      <a:r>
                        <a:rPr sz="3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最小化架构</a:t>
                      </a:r>
                      <a:r>
                        <a:rPr sz="33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</a:t>
                      </a:r>
                      <a:r>
                        <a:rPr sz="3300" kern="0" spc="60" dirty="0">
                          <a:solidFill>
                            <a:srgbClr val="10203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商业闭源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7365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3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书童「小舟」角色交互</a:t>
                      </a:r>
                      <a:r>
                        <a:rPr sz="33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sz="3300" b="1" kern="0" spc="40" dirty="0">
                          <a:solidFill>
                            <a:srgbClr val="10203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工具型对话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965" algn="l" rtl="0" eaLnBrk="0">
                        <a:lnSpc>
                          <a:spcPct val="96000"/>
                        </a:lnSpc>
                      </a:pPr>
                      <a:r>
                        <a:rPr sz="3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商业闭源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965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3300" b="1" kern="0" spc="30" dirty="0">
                          <a:solidFill>
                            <a:srgbClr val="10203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纯文</a:t>
                      </a:r>
                      <a:r>
                        <a:rPr sz="3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本交互</a:t>
                      </a:r>
                      <a:endParaRPr sz="3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6" name="textbox 216"/>
          <p:cNvSpPr/>
          <p:nvPr/>
        </p:nvSpPr>
        <p:spPr>
          <a:xfrm>
            <a:off x="1765152" y="1642197"/>
            <a:ext cx="15862935" cy="160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10900" b="1" kern="0" spc="-5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竞品对比：四张差异</a:t>
            </a:r>
            <a:r>
              <a:rPr sz="10900" b="1" kern="0" spc="-5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化的</a:t>
            </a:r>
            <a:r>
              <a:rPr sz="10900" b="1" kern="0" spc="-4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牌</a:t>
            </a:r>
            <a:endParaRPr sz="10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27420" y="4659630"/>
            <a:ext cx="10638790" cy="3343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400" b="1">
                <a:latin typeface="宋体" panose="02010600030101010101" pitchFamily="2" charset="-122"/>
                <a:ea typeface="宋体" panose="02010600030101010101" pitchFamily="2" charset="-122"/>
              </a:rPr>
              <a:t>径舟</a:t>
            </a:r>
            <a:r>
              <a:rPr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            ima      notebooklm     </a:t>
            </a:r>
            <a:endParaRPr lang="en-US" altLang="zh-CN" sz="4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0" y="4187190"/>
            <a:ext cx="14467205" cy="9569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 218"/>
          <p:cNvSpPr/>
          <p:nvPr/>
        </p:nvSpPr>
        <p:spPr>
          <a:xfrm>
            <a:off x="0" y="0"/>
            <a:ext cx="32499321" cy="18288000"/>
          </a:xfrm>
          <a:prstGeom prst="rect">
            <a:avLst/>
          </a:prstGeom>
          <a:solidFill>
            <a:srgbClr val="F4F3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20" name="picture 2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574881" y="4044939"/>
            <a:ext cx="29152859" cy="9626620"/>
          </a:xfrm>
          <a:prstGeom prst="rect">
            <a:avLst/>
          </a:prstGeom>
        </p:spPr>
      </p:pic>
      <p:sp>
        <p:nvSpPr>
          <p:cNvPr id="222" name="textbox 222"/>
          <p:cNvSpPr/>
          <p:nvPr/>
        </p:nvSpPr>
        <p:spPr>
          <a:xfrm>
            <a:off x="21526500" y="5849905"/>
            <a:ext cx="6765925" cy="6240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7000"/>
              </a:lnSpc>
            </a:pPr>
            <a:r>
              <a:rPr sz="3300" b="1" kern="0" spc="-60" dirty="0">
                <a:solidFill>
                  <a:srgbClr val="C0A07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学术调研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3000"/>
              </a:lnSpc>
              <a:spcBef>
                <a:spcPts val="1895"/>
              </a:spcBef>
            </a:pPr>
            <a:r>
              <a:rPr sz="2700" kern="0" spc="8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10+篇文献快速对</a:t>
            </a:r>
            <a:r>
              <a:rPr sz="2700" kern="0" spc="7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比，定位前沿技术差异。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7000"/>
              </a:lnSpc>
              <a:spcBef>
                <a:spcPts val="995"/>
              </a:spcBef>
            </a:pPr>
            <a:r>
              <a:rPr sz="3300" b="1" kern="0" spc="-70" dirty="0">
                <a:solidFill>
                  <a:srgbClr val="50A0D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竞赛备赛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5"/>
              </a:spcBef>
            </a:pPr>
            <a:r>
              <a:rPr sz="2700" kern="0" spc="2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历年真题库定向检索，精准总结出题规律。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6654860" y="5851605"/>
            <a:ext cx="6765925" cy="6238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7000"/>
              </a:lnSpc>
            </a:pPr>
            <a:r>
              <a:rPr sz="3300" b="1" kern="0" spc="150" dirty="0">
                <a:solidFill>
                  <a:srgbClr val="50A0D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期末复习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3000"/>
              </a:lnSpc>
              <a:spcBef>
                <a:spcPts val="1865"/>
              </a:spcBef>
            </a:pPr>
            <a:r>
              <a:rPr sz="2700" kern="0" spc="1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跨资料库融合提问，快速梳理考点脉络。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7000"/>
              </a:lnSpc>
              <a:spcBef>
                <a:spcPts val="990"/>
              </a:spcBef>
            </a:pPr>
            <a:r>
              <a:rPr sz="33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课堂辅助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2700" kern="0" spc="20" dirty="0">
                <a:solidFill>
                  <a:srgbClr val="5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教师分享资料库，学生课后自主多向提问。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1777805" y="1631836"/>
            <a:ext cx="14533244" cy="1601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10900" b="1" kern="0" spc="-5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</a:t>
            </a:r>
            <a:r>
              <a:rPr sz="10900" b="1" kern="0" spc="-5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用场景：从机房到</a:t>
            </a:r>
            <a:r>
              <a:rPr sz="10900" b="1" kern="0" spc="-5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书</a:t>
            </a:r>
            <a:r>
              <a:rPr sz="10900" b="1" kern="0" spc="-5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桌</a:t>
            </a:r>
            <a:endParaRPr sz="10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 228"/>
          <p:cNvSpPr/>
          <p:nvPr/>
        </p:nvSpPr>
        <p:spPr>
          <a:xfrm>
            <a:off x="0" y="0"/>
            <a:ext cx="32499321" cy="18288000"/>
          </a:xfrm>
          <a:prstGeom prst="rect">
            <a:avLst/>
          </a:prstGeom>
          <a:solidFill>
            <a:srgbClr val="F4F3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30" name="picture 2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9907098" y="6750101"/>
            <a:ext cx="7670880" cy="7708940"/>
          </a:xfrm>
          <a:prstGeom prst="rect">
            <a:avLst/>
          </a:prstGeom>
        </p:spPr>
      </p:pic>
      <p:sp>
        <p:nvSpPr>
          <p:cNvPr id="232" name="textbox 232"/>
          <p:cNvSpPr/>
          <p:nvPr/>
        </p:nvSpPr>
        <p:spPr>
          <a:xfrm>
            <a:off x="3379154" y="8312689"/>
            <a:ext cx="12277090" cy="4776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0" algn="l" rtl="0" eaLnBrk="0">
              <a:lnSpc>
                <a:spcPct val="97000"/>
              </a:lnSpc>
            </a:pPr>
            <a:r>
              <a:rPr sz="40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普惠教育：</a:t>
            </a:r>
            <a:r>
              <a:rPr sz="40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为教育资源匮乏地区提供低门槛</a:t>
            </a:r>
            <a:r>
              <a:rPr sz="40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</a:t>
            </a:r>
            <a:r>
              <a:rPr sz="4000" kern="0" spc="-4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0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辅助。</a:t>
            </a:r>
            <a:endParaRPr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1200"/>
              </a:spcBef>
            </a:pPr>
            <a:r>
              <a:rPr sz="4000" b="1" kern="0" spc="20" dirty="0">
                <a:solidFill>
                  <a:srgbClr val="102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效率变革：</a:t>
            </a:r>
            <a:r>
              <a:rPr sz="4000" kern="0" spc="20" dirty="0">
                <a:solidFill>
                  <a:srgbClr val="102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从“寻找资料</a:t>
            </a:r>
            <a:r>
              <a:rPr sz="4000" kern="0" spc="10" dirty="0">
                <a:solidFill>
                  <a:srgbClr val="102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”转向“理解知识”的本质回</a:t>
            </a:r>
            <a:endParaRPr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81280" algn="l" rtl="0" eaLnBrk="0">
              <a:lnSpc>
                <a:spcPts val="4680"/>
              </a:lnSpc>
              <a:spcBef>
                <a:spcPts val="570"/>
              </a:spcBef>
            </a:pPr>
            <a:r>
              <a:rPr sz="3700" kern="0" spc="-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归。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0" algn="l" rtl="0" eaLnBrk="0">
              <a:lnSpc>
                <a:spcPct val="97000"/>
              </a:lnSpc>
            </a:pPr>
            <a:r>
              <a:rPr sz="40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开源生态：</a:t>
            </a:r>
            <a:r>
              <a:rPr sz="4000" kern="0" spc="40" dirty="0">
                <a:solidFill>
                  <a:srgbClr val="102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模块化</a:t>
            </a:r>
            <a:r>
              <a:rPr sz="4000" kern="0" spc="0" dirty="0">
                <a:solidFill>
                  <a:srgbClr val="102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API</a:t>
            </a:r>
            <a:r>
              <a:rPr sz="4000" kern="0" spc="40" dirty="0">
                <a:solidFill>
                  <a:srgbClr val="102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支持7大端点</a:t>
            </a:r>
            <a:r>
              <a:rPr sz="4000" kern="0" spc="30" dirty="0">
                <a:solidFill>
                  <a:srgbClr val="102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灵活扩展开发。</a:t>
            </a:r>
            <a:endParaRPr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1764995" y="1595952"/>
            <a:ext cx="15386685" cy="1520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10300" b="1" kern="0" spc="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推广：普惠</a:t>
            </a:r>
            <a:r>
              <a:rPr sz="103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</a:t>
            </a:r>
            <a:r>
              <a:rPr sz="10300" b="1" kern="0" spc="8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0300" b="1" kern="0" spc="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的一叶轻舟</a:t>
            </a:r>
            <a:endParaRPr sz="10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36" name="picture 2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14357" y="7804221"/>
            <a:ext cx="1352824" cy="55752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2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sp>
        <p:nvSpPr>
          <p:cNvPr id="240" name="textbox 240"/>
          <p:cNvSpPr/>
          <p:nvPr/>
        </p:nvSpPr>
        <p:spPr>
          <a:xfrm>
            <a:off x="1790584" y="1674049"/>
            <a:ext cx="15819119" cy="1606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0"/>
              </a:spcBef>
            </a:pPr>
            <a:r>
              <a:rPr sz="10900" b="1" kern="0" spc="-6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团队分工：</a:t>
            </a:r>
            <a:r>
              <a:rPr sz="10900" b="1" kern="0" spc="-6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四位一体的协</a:t>
            </a:r>
            <a:r>
              <a:rPr sz="10900" b="1" kern="0" spc="-4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奏</a:t>
            </a:r>
            <a:endParaRPr sz="10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10890198" y="7587003"/>
            <a:ext cx="3342004" cy="2947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4690" algn="l" rtl="0" eaLnBrk="0">
              <a:lnSpc>
                <a:spcPct val="96000"/>
              </a:lnSpc>
            </a:pPr>
            <a:r>
              <a:rPr sz="5000" b="1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李昊楠</a:t>
            </a:r>
            <a:endParaRPr sz="5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8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31850" algn="l" rtl="0" eaLnBrk="0">
              <a:lnSpc>
                <a:spcPct val="97000"/>
              </a:lnSpc>
              <a:spcBef>
                <a:spcPts val="1000"/>
              </a:spcBef>
            </a:pPr>
            <a:r>
              <a:rPr sz="3300" kern="0" spc="-3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后端开发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57150" indent="-44450" algn="l" rtl="0" eaLnBrk="0">
              <a:lnSpc>
                <a:spcPct val="127000"/>
              </a:lnSpc>
              <a:spcBef>
                <a:spcPts val="135"/>
              </a:spcBef>
            </a:pPr>
            <a:r>
              <a:rPr sz="3300" kern="0" spc="-100" dirty="0">
                <a:solidFill>
                  <a:srgbClr val="6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RAG</a:t>
            </a:r>
            <a:r>
              <a:rPr sz="3300" kern="0" spc="-10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检索算法实现</a:t>
            </a:r>
            <a:endParaRPr sz="3300" kern="0" spc="-100" dirty="0">
              <a:solidFill>
                <a:srgbClr val="60608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57150" indent="-44450" algn="l" rtl="0" eaLnBrk="0">
              <a:lnSpc>
                <a:spcPct val="127000"/>
              </a:lnSpc>
              <a:spcBef>
                <a:spcPts val="135"/>
              </a:spcBef>
            </a:pPr>
            <a:r>
              <a:rPr lang="en-US" sz="3300" kern="0" spc="-5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3300" kern="0" spc="-5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方案说明书撰写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57150" indent="-44450" algn="l" rtl="0" eaLnBrk="0">
              <a:lnSpc>
                <a:spcPct val="127000"/>
              </a:lnSpc>
              <a:spcBef>
                <a:spcPts val="135"/>
              </a:spcBef>
            </a:pPr>
            <a:r>
              <a:rPr sz="3300" kern="0" spc="4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3459327" y="7587149"/>
            <a:ext cx="3387725" cy="2877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4540" algn="l" rtl="0" eaLnBrk="0">
              <a:lnSpc>
                <a:spcPct val="95000"/>
              </a:lnSpc>
            </a:pPr>
            <a:r>
              <a:rPr sz="49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李年皓</a:t>
            </a:r>
            <a:endParaRPr sz="4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8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79450" algn="l" rtl="0" eaLnBrk="0">
              <a:lnSpc>
                <a:spcPct val="97000"/>
              </a:lnSpc>
              <a:spcBef>
                <a:spcPts val="995"/>
              </a:spcBef>
            </a:pPr>
            <a:r>
              <a:rPr sz="3300" kern="0" spc="-5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项目负责人</a:t>
            </a:r>
            <a:endParaRPr sz="3300" kern="0" spc="-50" dirty="0">
              <a:solidFill>
                <a:srgbClr val="60608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79450" algn="l" rtl="0" eaLnBrk="0">
              <a:lnSpc>
                <a:spcPct val="97000"/>
              </a:lnSpc>
              <a:spcBef>
                <a:spcPts val="995"/>
              </a:spcBef>
            </a:pPr>
            <a:r>
              <a:rPr sz="3300" kern="0" spc="-7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动画系统实现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1750" algn="l" rtl="0" eaLnBrk="0">
              <a:lnSpc>
                <a:spcPct val="86000"/>
              </a:lnSpc>
              <a:spcBef>
                <a:spcPts val="1665"/>
              </a:spcBef>
            </a:pPr>
            <a:r>
              <a:rPr sz="3300" kern="0" spc="22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前端架构/</a:t>
            </a:r>
            <a:r>
              <a:rPr sz="3300" kern="0" spc="0" dirty="0">
                <a:solidFill>
                  <a:srgbClr val="6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UI</a:t>
            </a:r>
            <a:r>
              <a:rPr sz="3300" kern="0" spc="22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设计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ts val="4720"/>
              </a:lnSpc>
            </a:pPr>
            <a:r>
              <a:rPr sz="3400" kern="0" spc="-130" dirty="0">
                <a:solidFill>
                  <a:srgbClr val="6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</a:t>
            </a:r>
            <a:r>
              <a:rPr sz="3400" kern="0" spc="-350" dirty="0">
                <a:solidFill>
                  <a:srgbClr val="6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kern="0" spc="-13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角色与文案体系</a:t>
            </a:r>
            <a:endParaRPr sz="3400" kern="0" spc="-130" dirty="0">
              <a:solidFill>
                <a:srgbClr val="60608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ts val="4720"/>
              </a:lnSpc>
            </a:pPr>
            <a:r>
              <a:rPr sz="3400" kern="0" spc="-50" dirty="0">
                <a:solidFill>
                  <a:srgbClr val="6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Prompt</a:t>
            </a:r>
            <a:r>
              <a:rPr sz="3400" kern="0" spc="740" dirty="0">
                <a:solidFill>
                  <a:srgbClr val="6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sz="3400" kern="0" spc="-50" dirty="0">
                <a:solidFill>
                  <a:srgbClr val="608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工程调优</a:t>
            </a:r>
            <a:endParaRPr sz="3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18275301" y="7587067"/>
            <a:ext cx="3328034" cy="2917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38505" algn="l" rtl="0" eaLnBrk="0">
              <a:lnSpc>
                <a:spcPct val="95000"/>
              </a:lnSpc>
            </a:pPr>
            <a:r>
              <a:rPr sz="49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倪琢隆</a:t>
            </a:r>
            <a:endParaRPr sz="4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8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50265" algn="l" rtl="0" eaLnBrk="0">
              <a:lnSpc>
                <a:spcPct val="97000"/>
              </a:lnSpc>
              <a:spcBef>
                <a:spcPts val="990"/>
              </a:spcBef>
            </a:pPr>
            <a:r>
              <a:rPr sz="3300" kern="0" spc="-3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交互开发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300" kern="0" spc="-5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功能模块集成测试</a:t>
            </a:r>
            <a:endParaRPr sz="3300" kern="0" spc="-50" dirty="0">
              <a:solidFill>
                <a:srgbClr val="60608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7000"/>
              </a:lnSpc>
            </a:pPr>
            <a:r>
              <a:rPr lang="en-US" sz="3300" kern="0" spc="-8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sz="3300" kern="0" spc="-8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竞品数据分析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25646390" y="7518449"/>
            <a:ext cx="2917189" cy="2945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04190" algn="l" rtl="0" eaLnBrk="0">
              <a:lnSpc>
                <a:spcPct val="96000"/>
              </a:lnSpc>
            </a:pPr>
            <a:r>
              <a:rPr sz="50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傅一恒</a:t>
            </a:r>
            <a:endParaRPr sz="5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8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1165" algn="l" rtl="0" eaLnBrk="0">
              <a:lnSpc>
                <a:spcPct val="97000"/>
              </a:lnSpc>
              <a:spcBef>
                <a:spcPts val="1000"/>
              </a:spcBef>
            </a:pPr>
            <a:r>
              <a:rPr sz="3300" kern="0" spc="-5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测试与文档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indent="190500" algn="l" rtl="0" eaLnBrk="0">
              <a:lnSpc>
                <a:spcPct val="125000"/>
              </a:lnSpc>
              <a:spcBef>
                <a:spcPts val="300"/>
              </a:spcBef>
            </a:pPr>
            <a:r>
              <a:rPr sz="3300" kern="0" spc="-8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竞品数据分析</a:t>
            </a:r>
            <a:r>
              <a:rPr sz="3300" kern="0" spc="2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3300" kern="0" spc="-50" dirty="0">
                <a:solidFill>
                  <a:srgbClr val="6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方案说明书撰写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50" name="picture 2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288879" y="5003779"/>
            <a:ext cx="2139937" cy="2133660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87139" y="5022798"/>
            <a:ext cx="2127260" cy="2114641"/>
          </a:xfrm>
          <a:prstGeom prst="rect">
            <a:avLst/>
          </a:prstGeom>
        </p:spPr>
      </p:pic>
      <p:pic>
        <p:nvPicPr>
          <p:cNvPr id="254" name="picture 2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8904100" y="5022798"/>
            <a:ext cx="2120758" cy="2121042"/>
          </a:xfrm>
          <a:prstGeom prst="rect">
            <a:avLst/>
          </a:prstGeom>
        </p:spPr>
      </p:pic>
      <p:pic>
        <p:nvPicPr>
          <p:cNvPr id="256" name="picture 2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095861" y="5022800"/>
            <a:ext cx="2120757" cy="2108240"/>
          </a:xfrm>
          <a:prstGeom prst="rect">
            <a:avLst/>
          </a:prstGeom>
        </p:spPr>
      </p:pic>
      <p:sp>
        <p:nvSpPr>
          <p:cNvPr id="258" name="textbox 258"/>
          <p:cNvSpPr/>
          <p:nvPr/>
        </p:nvSpPr>
        <p:spPr>
          <a:xfrm>
            <a:off x="13461897" y="13054007"/>
            <a:ext cx="5553709" cy="5657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3700" kern="0" spc="-70" dirty="0">
                <a:solidFill>
                  <a:srgbClr val="B08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指导教师：徐熙</a:t>
            </a:r>
            <a:r>
              <a:rPr lang="zh-CN" sz="3700" kern="0" spc="-70" dirty="0">
                <a:solidFill>
                  <a:srgbClr val="B08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辰</a:t>
            </a:r>
            <a:r>
              <a:rPr sz="3700" kern="0" spc="-70" dirty="0">
                <a:solidFill>
                  <a:srgbClr val="B08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、孙智广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picture 2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pic>
        <p:nvPicPr>
          <p:cNvPr id="278" name="picture 2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388559" y="7613660"/>
            <a:ext cx="11734880" cy="6223040"/>
          </a:xfrm>
          <a:prstGeom prst="rect">
            <a:avLst/>
          </a:prstGeom>
        </p:spPr>
      </p:pic>
      <p:sp>
        <p:nvSpPr>
          <p:cNvPr id="280" name="textbox 280"/>
          <p:cNvSpPr/>
          <p:nvPr/>
        </p:nvSpPr>
        <p:spPr>
          <a:xfrm>
            <a:off x="2572232" y="3814072"/>
            <a:ext cx="26963371" cy="3084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1200" b="1" kern="0" spc="2270" dirty="0">
                <a:solidFill>
                  <a:srgbClr val="3070B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书山有路，学海无涯</a:t>
            </a:r>
            <a:endParaRPr sz="2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11347318" y="14410619"/>
            <a:ext cx="9787890" cy="630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8000"/>
              </a:lnSpc>
            </a:pP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2656</Words>
  <Application>WPS 演示</Application>
  <PresentationFormat/>
  <Paragraphs>1029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Arial</vt:lpstr>
      <vt:lpstr>黑体</vt:lpstr>
      <vt:lpstr>Times New Roman</vt:lpstr>
      <vt:lpstr>微软雅黑</vt:lpstr>
      <vt:lpstr>Arial Unicode MS</vt:lpstr>
      <vt:lpstr>Calibri</vt:lpstr>
      <vt:lpstr>华文行楷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二十二</cp:lastModifiedBy>
  <cp:revision>2</cp:revision>
  <dcterms:created xsi:type="dcterms:W3CDTF">2026-05-15T13:16:10Z</dcterms:created>
  <dcterms:modified xsi:type="dcterms:W3CDTF">2026-05-15T13:16:27Z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2026-05-15T21:07:13Z</vt:filetime>
  </property>
  <property fmtid="{D5CDD505-2E9C-101B-9397-08002B2CF9AE}" pid="4" name="UsrData">
    <vt:lpwstr>6a071a5143cd31001f0c5146wl</vt:lpwstr>
  </property>
  <property fmtid="{D5CDD505-2E9C-101B-9397-08002B2CF9AE}" pid="5" name="KSOProductBuildVer">
    <vt:lpwstr>2052-12.1.0.26375</vt:lpwstr>
  </property>
  <property fmtid="{D5CDD505-2E9C-101B-9397-08002B2CF9AE}" pid="6" name="ICV">
    <vt:lpwstr>5FD65CCF96A94F30BD8703BF6AEDB634_12</vt:lpwstr>
  </property>
</Properties>
</file>